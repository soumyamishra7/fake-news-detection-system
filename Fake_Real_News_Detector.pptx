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9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project is a Fake and Real News Detector — a machine learning web application that takes any news headline and tells you whether it's likely fake or real, with a confidence score. I'm Soumya Ranjan Mishra, MCA student at Rourkela Institute of Management Studies, guided by Bibhudendu Panda, Assistant Professor. Over the next few minutes I'll walk through the full pipeline — from raw data to a live deployed website.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details, here's the full pipeline at a glance — eight stages from raw data to a deployed app. I'll go through each of these one by one. The first six stages, in navy, are the core machine learning workflow. The last two, in coral, are what turns the trained model into something people can actually use — saving it to disk and putting it on a live server.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data collection. I used the Kaggle Fake and Real News Dataset — a publicly available, pre-labelled dataset, so there's no live web scraping involved, which keeps things reproducible. It's split into two files, Fake.csv and True.csv, each with title, text, subject, and date columns. Combined, that's almost forty-five thousand articles — twenty-three thousand fake, twenty-one thousand real — so it's a reasonably balanced dataset, which matters a lot for training a fair classifier.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preprocessing — cleaning the raw data before it can be used for training. Four steps: I removed incomplete rows, merged the title and article text into a single field for more context per sample, encoded the labels numerically with fake as zero and real as one, and shuffled the dataset so the model doesn't learn anything from row order. You can see the output here — forty-four thousand eight hundred ninety-eight clean articles ready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models need numbers, not raw text, so this step converts words into numeric features using a technique called TF-IDF — term frequency, inverse document frequency. In short, it scores each word by how often it appears in one article versus how rare it is across the whole dataset, so common words like 'the' score low and distinctive words score high. I used the top five thousand most informative words, with English stop-words removed, and split the data eighty-twenty into training and testing sets.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picking one algorithm blindly, I trained and compared three — Naive Bayes, Logistic Regression, and SVM. These represent a spread from simple probabilistic to linear to margin-based, which is a standard set of baselines for text classification before reaching for something heavier like deep learning. Naive Bayes trained almost instantly but scored lowest at ninety-two point eight eight percent. Logistic Regression hit ninety-eight point six seven percent. SVM won outright at ninety-nine point three three percent, though it took the longest to train.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alone can hide problems, so I evaluated all three models on four metrics — accuracy, precision, recall, and F1-score — shown in this table, alongside the confusion matrices above. SVM leads on every single metric: 99.33% accuracy, 99.27% precision, 99.32% recall, and 99.30% F1-score. SVM wins because it finds the optimal separating boundary in high-dimensional TF-IDF space, which suits sparse text features better than Naive Bayes' assumption that all words are independent of each other.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trained, the model and vectorizer are saved to disk using joblib, as model.pkl and vectorizer.pkl. That means the live web app loads an already-trained model in under a second instead of retraining on every request — which matters a lot on a low-memory free cloud server. The app itself is built with Flask, version-controlled on GitHub, and deployed on Render with auto-deploy enabled, so every push to GitHub automatically updates the live site.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it actually working. [If live: switch to the browser tab and demo it live with a fresh headline]. Here I pasted a deliberately sensational headline — about Hillary Clinton being arrested for treason — and the model flags it as fake news with 97.7% confidence. Notice it also shows the top keywords that drove that decision — hillary, fbi, agents, arrested, treason — so the prediction isn't a black box, you can see exactly what triggered it. If confidence had been below 60%, the app would show 'Uncertain' instead of forcing a label, which keeps the tool honest about its limits.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want to be upfront about the limitations rather than oversell this. The dataset is mostly US political news from twenty sixteen to twenty seventeen, so accuracy is highest on that kind of headline and drops on general topics like sports or health — that's a known dataset bias. It's English-only, and TF-IDF doesn't capture word order or deeper context. Going forward, I'd want to expand the dataset, try transformer models like BERT for deeper understanding, and add explainability so users can see which keywords drove each prediction. That's the project —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rimsedu.ac.in/faculty-details/6953a1a14b38bb90b9892fc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github.com/soumyamishra7/news-detector" TargetMode="External"/><Relationship Id="rId4" Type="http://schemas.openxmlformats.org/officeDocument/2006/relationships/hyperlink" Target="https://news-detector-mykz.onrender.co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2C3E63"/>
          </a:solidFill>
          <a:ln/>
        </p:spPr>
      </p:sp>
      <p:sp>
        <p:nvSpPr>
          <p:cNvPr id="3" name="Shape 1"/>
          <p:cNvSpPr/>
          <p:nvPr/>
        </p:nvSpPr>
        <p:spPr>
          <a:xfrm>
            <a:off x="-1371600" y="4572000"/>
            <a:ext cx="3657600" cy="3657600"/>
          </a:xfrm>
          <a:prstGeom prst="ellipse">
            <a:avLst/>
          </a:prstGeom>
          <a:solidFill>
            <a:srgbClr val="2C3E63"/>
          </a:solidFill>
          <a:ln/>
        </p:spPr>
      </p:sp>
      <p:sp>
        <p:nvSpPr>
          <p:cNvPr id="4" name="Shape 2"/>
          <p:cNvSpPr/>
          <p:nvPr/>
        </p:nvSpPr>
        <p:spPr>
          <a:xfrm>
            <a:off x="640080" y="1554480"/>
            <a:ext cx="2377440" cy="457200"/>
          </a:xfrm>
          <a:prstGeom prst="roundRect">
            <a:avLst>
              <a:gd name="adj" fmla="val 20000"/>
            </a:avLst>
          </a:prstGeom>
          <a:solidFill>
            <a:srgbClr val="E25C45"/>
          </a:solidFill>
          <a:ln/>
        </p:spPr>
      </p:sp>
      <p:sp>
        <p:nvSpPr>
          <p:cNvPr id="5" name="Text 3"/>
          <p:cNvSpPr/>
          <p:nvPr/>
        </p:nvSpPr>
        <p:spPr>
          <a:xfrm>
            <a:off x="640080" y="1554480"/>
            <a:ext cx="237744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MACHINE LEARNING PROJECT</a:t>
            </a:r>
            <a:endParaRPr lang="en-US" sz="1200" dirty="0"/>
          </a:p>
        </p:txBody>
      </p:sp>
      <p:sp>
        <p:nvSpPr>
          <p:cNvPr id="6" name="Text 4"/>
          <p:cNvSpPr/>
          <p:nvPr/>
        </p:nvSpPr>
        <p:spPr>
          <a:xfrm>
            <a:off x="640080" y="2011680"/>
            <a:ext cx="9601200" cy="118872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Fake &amp; Real News Detector</a:t>
            </a:r>
            <a:endParaRPr lang="en-US" sz="4400" dirty="0"/>
          </a:p>
        </p:txBody>
      </p:sp>
      <p:sp>
        <p:nvSpPr>
          <p:cNvPr id="7" name="Text 5"/>
          <p:cNvSpPr/>
          <p:nvPr/>
        </p:nvSpPr>
        <p:spPr>
          <a:xfrm>
            <a:off x="640080" y="3154680"/>
            <a:ext cx="8229600" cy="594360"/>
          </a:xfrm>
          <a:prstGeom prst="rect">
            <a:avLst/>
          </a:prstGeom>
          <a:noFill/>
          <a:ln/>
        </p:spPr>
        <p:txBody>
          <a:bodyPr wrap="square" lIns="0" tIns="0" rIns="0" bIns="0" rtlCol="0" anchor="ctr"/>
          <a:lstStyle/>
          <a:p>
            <a:pPr marL="0" indent="0">
              <a:buNone/>
            </a:pPr>
            <a:r>
              <a:rPr lang="en-US" sz="1500" dirty="0">
                <a:solidFill>
                  <a:srgbClr val="E8EDF7"/>
                </a:solidFill>
                <a:latin typeface="Calibri" pitchFamily="34" charset="0"/>
                <a:ea typeface="Calibri" pitchFamily="34" charset="-122"/>
                <a:cs typeface="Calibri" pitchFamily="34" charset="-120"/>
              </a:rPr>
              <a:t>An AI-powered web application that classifies news as fake or real using natural language processing and machine learning</a:t>
            </a:r>
            <a:endParaRPr lang="en-US" sz="1500" dirty="0"/>
          </a:p>
        </p:txBody>
      </p:sp>
      <p:sp>
        <p:nvSpPr>
          <p:cNvPr id="8" name="Shape 6"/>
          <p:cNvSpPr/>
          <p:nvPr/>
        </p:nvSpPr>
        <p:spPr>
          <a:xfrm>
            <a:off x="640080" y="3977640"/>
            <a:ext cx="5257800" cy="868680"/>
          </a:xfrm>
          <a:prstGeom prst="roundRect">
            <a:avLst>
              <a:gd name="adj" fmla="val 8421"/>
            </a:avLst>
          </a:prstGeom>
          <a:solidFill>
            <a:srgbClr val="2C3E63"/>
          </a:solidFill>
          <a:ln/>
        </p:spPr>
      </p:sp>
      <p:sp>
        <p:nvSpPr>
          <p:cNvPr id="9" name="Text 7"/>
          <p:cNvSpPr/>
          <p:nvPr/>
        </p:nvSpPr>
        <p:spPr>
          <a:xfrm>
            <a:off x="868680" y="4096512"/>
            <a:ext cx="4800600" cy="256032"/>
          </a:xfrm>
          <a:prstGeom prst="rect">
            <a:avLst/>
          </a:prstGeom>
          <a:noFill/>
          <a:ln/>
        </p:spPr>
        <p:txBody>
          <a:bodyPr wrap="square" lIns="0" tIns="0" rIns="0" bIns="0" rtlCol="0" anchor="ctr"/>
          <a:lstStyle/>
          <a:p>
            <a:pPr marL="0" indent="0">
              <a:buNone/>
            </a:pPr>
            <a:r>
              <a:rPr lang="en-US" sz="900" b="1" kern="0" spc="100" dirty="0">
                <a:solidFill>
                  <a:srgbClr val="E25C45"/>
                </a:solidFill>
                <a:latin typeface="Calibri" pitchFamily="34" charset="0"/>
                <a:ea typeface="Calibri" pitchFamily="34" charset="-122"/>
                <a:cs typeface="Calibri" pitchFamily="34" charset="-120"/>
              </a:rPr>
              <a:t>DEVELOPED BY</a:t>
            </a:r>
            <a:endParaRPr lang="en-US" sz="900" dirty="0"/>
          </a:p>
        </p:txBody>
      </p:sp>
      <p:sp>
        <p:nvSpPr>
          <p:cNvPr id="10" name="Text 8"/>
          <p:cNvSpPr/>
          <p:nvPr/>
        </p:nvSpPr>
        <p:spPr>
          <a:xfrm>
            <a:off x="868680" y="4361688"/>
            <a:ext cx="4800600" cy="4114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Soumya Ranjan Mishra</a:t>
            </a:r>
            <a:br>
              <a:rPr lang="en-US" sz="1300" dirty="0">
                <a:solidFill>
                  <a:srgbClr val="FFFFFF"/>
                </a:solidFill>
                <a:latin typeface="Calibri" pitchFamily="34" charset="0"/>
                <a:ea typeface="Calibri" pitchFamily="34" charset="-122"/>
                <a:cs typeface="Calibri" pitchFamily="34" charset="-120"/>
              </a:rPr>
            </a:br>
            <a:r>
              <a:rPr lang="en-US" sz="1300" dirty="0">
                <a:solidFill>
                  <a:srgbClr val="FFFFFF"/>
                </a:solidFill>
                <a:latin typeface="Calibri" pitchFamily="34" charset="0"/>
                <a:ea typeface="Calibri" pitchFamily="34" charset="-122"/>
                <a:cs typeface="Calibri" pitchFamily="34" charset="-120"/>
              </a:rPr>
              <a:t>Registration Number-250522610022</a:t>
            </a:r>
            <a:endParaRPr lang="en-US" sz="1300" dirty="0"/>
          </a:p>
        </p:txBody>
      </p:sp>
      <p:sp>
        <p:nvSpPr>
          <p:cNvPr id="11" name="Shape 9"/>
          <p:cNvSpPr/>
          <p:nvPr/>
        </p:nvSpPr>
        <p:spPr>
          <a:xfrm>
            <a:off x="6263640" y="3977640"/>
            <a:ext cx="5257800" cy="868680"/>
          </a:xfrm>
          <a:prstGeom prst="roundRect">
            <a:avLst>
              <a:gd name="adj" fmla="val 8421"/>
            </a:avLst>
          </a:prstGeom>
          <a:solidFill>
            <a:srgbClr val="2C3E63"/>
          </a:solidFill>
          <a:ln/>
        </p:spPr>
      </p:sp>
      <p:sp>
        <p:nvSpPr>
          <p:cNvPr id="12" name="Text 10"/>
          <p:cNvSpPr/>
          <p:nvPr/>
        </p:nvSpPr>
        <p:spPr>
          <a:xfrm>
            <a:off x="6492240" y="4096512"/>
            <a:ext cx="4800600" cy="256032"/>
          </a:xfrm>
          <a:prstGeom prst="rect">
            <a:avLst/>
          </a:prstGeom>
          <a:noFill/>
          <a:ln/>
        </p:spPr>
        <p:txBody>
          <a:bodyPr wrap="square" lIns="0" tIns="0" rIns="0" bIns="0" rtlCol="0" anchor="ctr"/>
          <a:lstStyle/>
          <a:p>
            <a:pPr marL="0" indent="0">
              <a:buNone/>
            </a:pPr>
            <a:r>
              <a:rPr lang="en-US" sz="900" b="1" kern="0" spc="100" dirty="0">
                <a:solidFill>
                  <a:srgbClr val="E25C45"/>
                </a:solidFill>
                <a:latin typeface="Calibri" pitchFamily="34" charset="0"/>
                <a:ea typeface="Calibri" pitchFamily="34" charset="-122"/>
                <a:cs typeface="Calibri" pitchFamily="34" charset="-120"/>
              </a:rPr>
              <a:t>GUIDED BY</a:t>
            </a:r>
            <a:endParaRPr lang="en-US" sz="900" dirty="0"/>
          </a:p>
        </p:txBody>
      </p:sp>
      <p:sp>
        <p:nvSpPr>
          <p:cNvPr id="13" name="Text 11">
            <a:hlinkClick r:id="rId3"/>
          </p:cNvPr>
          <p:cNvSpPr/>
          <p:nvPr/>
        </p:nvSpPr>
        <p:spPr>
          <a:xfrm>
            <a:off x="6492240" y="4361688"/>
            <a:ext cx="4800600" cy="411480"/>
          </a:xfrm>
          <a:prstGeom prst="rect">
            <a:avLst/>
          </a:prstGeom>
          <a:noFill/>
          <a:ln/>
        </p:spPr>
        <p:txBody>
          <a:bodyPr wrap="square" lIns="0" tIns="0" rIns="0" bIns="0" rtlCol="0" anchor="ctr"/>
          <a:lstStyle/>
          <a:p>
            <a:pPr marL="0" indent="0">
              <a:buNone/>
            </a:pPr>
            <a:r>
              <a:rPr lang="en-US" sz="1300" u="sng" dirty="0">
                <a:solidFill>
                  <a:srgbClr val="FFFF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Bibhudendu Panda — Assistant Professor</a:t>
            </a:r>
            <a:endParaRPr lang="en-US" sz="1300" dirty="0"/>
          </a:p>
        </p:txBody>
      </p:sp>
      <p:sp>
        <p:nvSpPr>
          <p:cNvPr id="14" name="Shape 12"/>
          <p:cNvSpPr/>
          <p:nvPr/>
        </p:nvSpPr>
        <p:spPr>
          <a:xfrm>
            <a:off x="640080" y="5074920"/>
            <a:ext cx="5257800" cy="868680"/>
          </a:xfrm>
          <a:prstGeom prst="roundRect">
            <a:avLst>
              <a:gd name="adj" fmla="val 8421"/>
            </a:avLst>
          </a:prstGeom>
          <a:solidFill>
            <a:srgbClr val="2C3E63"/>
          </a:solidFill>
          <a:ln/>
        </p:spPr>
      </p:sp>
      <p:sp>
        <p:nvSpPr>
          <p:cNvPr id="15" name="Text 13"/>
          <p:cNvSpPr/>
          <p:nvPr/>
        </p:nvSpPr>
        <p:spPr>
          <a:xfrm>
            <a:off x="868680" y="5193792"/>
            <a:ext cx="4800600" cy="256032"/>
          </a:xfrm>
          <a:prstGeom prst="rect">
            <a:avLst/>
          </a:prstGeom>
          <a:noFill/>
          <a:ln/>
        </p:spPr>
        <p:txBody>
          <a:bodyPr wrap="square" lIns="0" tIns="0" rIns="0" bIns="0" rtlCol="0" anchor="ctr"/>
          <a:lstStyle/>
          <a:p>
            <a:pPr marL="0" indent="0">
              <a:buNone/>
            </a:pPr>
            <a:r>
              <a:rPr lang="en-US" sz="900" b="1" kern="0" spc="100" dirty="0">
                <a:solidFill>
                  <a:srgbClr val="E25C45"/>
                </a:solidFill>
                <a:latin typeface="Calibri" pitchFamily="34" charset="0"/>
                <a:ea typeface="Calibri" pitchFamily="34" charset="-122"/>
                <a:cs typeface="Calibri" pitchFamily="34" charset="-120"/>
              </a:rPr>
              <a:t>INSTITUTION</a:t>
            </a:r>
            <a:endParaRPr lang="en-US" sz="900" dirty="0"/>
          </a:p>
        </p:txBody>
      </p:sp>
      <p:sp>
        <p:nvSpPr>
          <p:cNvPr id="16" name="Text 14"/>
          <p:cNvSpPr/>
          <p:nvPr/>
        </p:nvSpPr>
        <p:spPr>
          <a:xfrm>
            <a:off x="868680" y="5458968"/>
            <a:ext cx="4800600" cy="4114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Rourkela Institute of Mgmt. Studies</a:t>
            </a:r>
            <a:endParaRPr lang="en-US" sz="1300" dirty="0"/>
          </a:p>
        </p:txBody>
      </p:sp>
      <p:sp>
        <p:nvSpPr>
          <p:cNvPr id="17" name="Shape 15"/>
          <p:cNvSpPr/>
          <p:nvPr/>
        </p:nvSpPr>
        <p:spPr>
          <a:xfrm>
            <a:off x="6263640" y="5074920"/>
            <a:ext cx="5257800" cy="868680"/>
          </a:xfrm>
          <a:prstGeom prst="roundRect">
            <a:avLst>
              <a:gd name="adj" fmla="val 8421"/>
            </a:avLst>
          </a:prstGeom>
          <a:solidFill>
            <a:srgbClr val="2C3E63"/>
          </a:solidFill>
          <a:ln/>
        </p:spPr>
      </p:sp>
      <p:sp>
        <p:nvSpPr>
          <p:cNvPr id="18" name="Text 16"/>
          <p:cNvSpPr/>
          <p:nvPr/>
        </p:nvSpPr>
        <p:spPr>
          <a:xfrm>
            <a:off x="6492240" y="5193792"/>
            <a:ext cx="4800600" cy="256032"/>
          </a:xfrm>
          <a:prstGeom prst="rect">
            <a:avLst/>
          </a:prstGeom>
          <a:noFill/>
          <a:ln/>
        </p:spPr>
        <p:txBody>
          <a:bodyPr wrap="square" lIns="0" tIns="0" rIns="0" bIns="0" rtlCol="0" anchor="ctr"/>
          <a:lstStyle/>
          <a:p>
            <a:pPr marL="0" indent="0">
              <a:buNone/>
            </a:pPr>
            <a:r>
              <a:rPr lang="en-US" sz="900" b="1" kern="0" spc="100" dirty="0">
                <a:solidFill>
                  <a:srgbClr val="E25C45"/>
                </a:solidFill>
                <a:latin typeface="Calibri" pitchFamily="34" charset="0"/>
                <a:ea typeface="Calibri" pitchFamily="34" charset="-122"/>
                <a:cs typeface="Calibri" pitchFamily="34" charset="-120"/>
              </a:rPr>
              <a:t>COURSE</a:t>
            </a:r>
            <a:endParaRPr lang="en-US" sz="900" dirty="0"/>
          </a:p>
        </p:txBody>
      </p:sp>
      <p:sp>
        <p:nvSpPr>
          <p:cNvPr id="19" name="Text 17"/>
          <p:cNvSpPr/>
          <p:nvPr/>
        </p:nvSpPr>
        <p:spPr>
          <a:xfrm>
            <a:off x="6492240" y="5458968"/>
            <a:ext cx="4800600" cy="4114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OVERVIEW</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End-to-end ML pipeline</a:t>
            </a:r>
            <a:endParaRPr lang="en-US" sz="3000" dirty="0"/>
          </a:p>
        </p:txBody>
      </p:sp>
      <p:sp>
        <p:nvSpPr>
          <p:cNvPr id="5" name="Text 3"/>
          <p:cNvSpPr/>
          <p:nvPr/>
        </p:nvSpPr>
        <p:spPr>
          <a:xfrm>
            <a:off x="548640" y="1645920"/>
            <a:ext cx="10789920" cy="411480"/>
          </a:xfrm>
          <a:prstGeom prst="rect">
            <a:avLst/>
          </a:prstGeom>
          <a:noFill/>
          <a:ln/>
        </p:spPr>
        <p:txBody>
          <a:bodyPr wrap="square" lIns="0" tIns="0" rIns="0" bIns="0" rtlCol="0" anchor="ctr"/>
          <a:lstStyle/>
          <a:p>
            <a:pPr marL="0" indent="0">
              <a:buNone/>
            </a:pPr>
            <a:r>
              <a:rPr lang="en-US" sz="1300" dirty="0">
                <a:solidFill>
                  <a:srgbClr val="5B6478"/>
                </a:solidFill>
                <a:latin typeface="Calibri" pitchFamily="34" charset="0"/>
                <a:ea typeface="Calibri" pitchFamily="34" charset="-122"/>
                <a:cs typeface="Calibri" pitchFamily="34" charset="-120"/>
              </a:rPr>
              <a:t>Raw news articles flow through eight stages to become a live prediction — each stage covered in detail on the slides that follow.</a:t>
            </a:r>
            <a:endParaRPr lang="en-US" sz="1300" dirty="0"/>
          </a:p>
        </p:txBody>
      </p:sp>
      <p:sp>
        <p:nvSpPr>
          <p:cNvPr id="6" name="Shape 4"/>
          <p:cNvSpPr/>
          <p:nvPr/>
        </p:nvSpPr>
        <p:spPr>
          <a:xfrm>
            <a:off x="548640" y="2331720"/>
            <a:ext cx="2395728" cy="1371600"/>
          </a:xfrm>
          <a:prstGeom prst="roundRect">
            <a:avLst>
              <a:gd name="adj" fmla="val 6667"/>
            </a:avLst>
          </a:prstGeom>
          <a:solidFill>
            <a:srgbClr val="1B2A4A"/>
          </a:solidFill>
          <a:ln/>
          <a:effectLst>
            <a:outerShdw blurRad="101600" dist="38100" dir="5400000" algn="bl" rotWithShape="0">
              <a:srgbClr val="000000">
                <a:alpha val="12000"/>
              </a:srgbClr>
            </a:outerShdw>
          </a:effectLst>
        </p:spPr>
      </p:sp>
      <p:sp>
        <p:nvSpPr>
          <p:cNvPr id="7" name="Shape 5"/>
          <p:cNvSpPr/>
          <p:nvPr/>
        </p:nvSpPr>
        <p:spPr>
          <a:xfrm>
            <a:off x="731520" y="2514600"/>
            <a:ext cx="384048" cy="384048"/>
          </a:xfrm>
          <a:prstGeom prst="ellipse">
            <a:avLst/>
          </a:prstGeom>
          <a:solidFill>
            <a:srgbClr val="FFFFFF"/>
          </a:solidFill>
          <a:ln/>
        </p:spPr>
      </p:sp>
      <p:sp>
        <p:nvSpPr>
          <p:cNvPr id="8" name="Text 6"/>
          <p:cNvSpPr/>
          <p:nvPr/>
        </p:nvSpPr>
        <p:spPr>
          <a:xfrm>
            <a:off x="731520" y="2514600"/>
            <a:ext cx="384048" cy="384048"/>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299008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collection</a:t>
            </a:r>
            <a:endParaRPr lang="en-US" sz="1300" dirty="0"/>
          </a:p>
        </p:txBody>
      </p:sp>
      <p:sp>
        <p:nvSpPr>
          <p:cNvPr id="10" name="Text 8"/>
          <p:cNvSpPr/>
          <p:nvPr/>
        </p:nvSpPr>
        <p:spPr>
          <a:xfrm>
            <a:off x="731520" y="333756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Kaggle CSV files</a:t>
            </a:r>
            <a:endParaRPr lang="en-US" sz="1050" dirty="0"/>
          </a:p>
        </p:txBody>
      </p:sp>
      <p:sp>
        <p:nvSpPr>
          <p:cNvPr id="11" name="Shape 9"/>
          <p:cNvSpPr/>
          <p:nvPr/>
        </p:nvSpPr>
        <p:spPr>
          <a:xfrm>
            <a:off x="2962656" y="2935224"/>
            <a:ext cx="219456" cy="164592"/>
          </a:xfrm>
          <a:prstGeom prst="rightArrow">
            <a:avLst/>
          </a:prstGeom>
          <a:solidFill>
            <a:srgbClr val="5B6478"/>
          </a:solidFill>
          <a:ln/>
        </p:spPr>
      </p:sp>
      <p:sp>
        <p:nvSpPr>
          <p:cNvPr id="12" name="Shape 10"/>
          <p:cNvSpPr/>
          <p:nvPr/>
        </p:nvSpPr>
        <p:spPr>
          <a:xfrm>
            <a:off x="3200400" y="2331720"/>
            <a:ext cx="2395728" cy="1371600"/>
          </a:xfrm>
          <a:prstGeom prst="roundRect">
            <a:avLst>
              <a:gd name="adj" fmla="val 6667"/>
            </a:avLst>
          </a:prstGeom>
          <a:solidFill>
            <a:srgbClr val="1B2A4A"/>
          </a:solidFill>
          <a:ln/>
          <a:effectLst>
            <a:outerShdw blurRad="101600" dist="38100" dir="5400000" algn="bl" rotWithShape="0">
              <a:srgbClr val="000000">
                <a:alpha val="12000"/>
              </a:srgbClr>
            </a:outerShdw>
          </a:effectLst>
        </p:spPr>
      </p:sp>
      <p:sp>
        <p:nvSpPr>
          <p:cNvPr id="13" name="Shape 11"/>
          <p:cNvSpPr/>
          <p:nvPr/>
        </p:nvSpPr>
        <p:spPr>
          <a:xfrm>
            <a:off x="3383280" y="2514600"/>
            <a:ext cx="384048" cy="384048"/>
          </a:xfrm>
          <a:prstGeom prst="ellipse">
            <a:avLst/>
          </a:prstGeom>
          <a:solidFill>
            <a:srgbClr val="FFFFFF"/>
          </a:solidFill>
          <a:ln/>
        </p:spPr>
      </p:sp>
      <p:sp>
        <p:nvSpPr>
          <p:cNvPr id="14" name="Text 12"/>
          <p:cNvSpPr/>
          <p:nvPr/>
        </p:nvSpPr>
        <p:spPr>
          <a:xfrm>
            <a:off x="3383280" y="2514600"/>
            <a:ext cx="384048" cy="384048"/>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383280" y="299008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p>
        </p:txBody>
      </p:sp>
      <p:sp>
        <p:nvSpPr>
          <p:cNvPr id="16" name="Text 14"/>
          <p:cNvSpPr/>
          <p:nvPr/>
        </p:nvSpPr>
        <p:spPr>
          <a:xfrm>
            <a:off x="3383280" y="333756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Clean, merge, label</a:t>
            </a:r>
            <a:endParaRPr lang="en-US" sz="1050" dirty="0"/>
          </a:p>
        </p:txBody>
      </p:sp>
      <p:sp>
        <p:nvSpPr>
          <p:cNvPr id="17" name="Shape 15"/>
          <p:cNvSpPr/>
          <p:nvPr/>
        </p:nvSpPr>
        <p:spPr>
          <a:xfrm>
            <a:off x="5614416" y="2935224"/>
            <a:ext cx="219456" cy="164592"/>
          </a:xfrm>
          <a:prstGeom prst="rightArrow">
            <a:avLst/>
          </a:prstGeom>
          <a:solidFill>
            <a:srgbClr val="5B6478"/>
          </a:solidFill>
          <a:ln/>
        </p:spPr>
      </p:sp>
      <p:sp>
        <p:nvSpPr>
          <p:cNvPr id="18" name="Shape 16"/>
          <p:cNvSpPr/>
          <p:nvPr/>
        </p:nvSpPr>
        <p:spPr>
          <a:xfrm>
            <a:off x="5852160" y="2331720"/>
            <a:ext cx="2395728" cy="1371600"/>
          </a:xfrm>
          <a:prstGeom prst="roundRect">
            <a:avLst>
              <a:gd name="adj" fmla="val 6667"/>
            </a:avLst>
          </a:prstGeom>
          <a:solidFill>
            <a:srgbClr val="1B2A4A"/>
          </a:solidFill>
          <a:ln/>
          <a:effectLst>
            <a:outerShdw blurRad="101600" dist="38100" dir="5400000" algn="bl" rotWithShape="0">
              <a:srgbClr val="000000">
                <a:alpha val="12000"/>
              </a:srgbClr>
            </a:outerShdw>
          </a:effectLst>
        </p:spPr>
      </p:sp>
      <p:sp>
        <p:nvSpPr>
          <p:cNvPr id="19" name="Shape 17"/>
          <p:cNvSpPr/>
          <p:nvPr/>
        </p:nvSpPr>
        <p:spPr>
          <a:xfrm>
            <a:off x="6035040" y="2514600"/>
            <a:ext cx="384048" cy="384048"/>
          </a:xfrm>
          <a:prstGeom prst="ellipse">
            <a:avLst/>
          </a:prstGeom>
          <a:solidFill>
            <a:srgbClr val="FFFFFF"/>
          </a:solidFill>
          <a:ln/>
        </p:spPr>
      </p:sp>
      <p:sp>
        <p:nvSpPr>
          <p:cNvPr id="20" name="Text 18"/>
          <p:cNvSpPr/>
          <p:nvPr/>
        </p:nvSpPr>
        <p:spPr>
          <a:xfrm>
            <a:off x="6035040" y="2514600"/>
            <a:ext cx="384048" cy="384048"/>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6035040" y="299008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Feature engineering</a:t>
            </a:r>
            <a:endParaRPr lang="en-US" sz="1300" dirty="0"/>
          </a:p>
        </p:txBody>
      </p:sp>
      <p:sp>
        <p:nvSpPr>
          <p:cNvPr id="22" name="Text 20"/>
          <p:cNvSpPr/>
          <p:nvPr/>
        </p:nvSpPr>
        <p:spPr>
          <a:xfrm>
            <a:off x="6035040" y="333756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TF-IDF vectors</a:t>
            </a:r>
            <a:endParaRPr lang="en-US" sz="1050" dirty="0"/>
          </a:p>
        </p:txBody>
      </p:sp>
      <p:sp>
        <p:nvSpPr>
          <p:cNvPr id="23" name="Shape 21"/>
          <p:cNvSpPr/>
          <p:nvPr/>
        </p:nvSpPr>
        <p:spPr>
          <a:xfrm>
            <a:off x="8266176" y="2935224"/>
            <a:ext cx="219456" cy="164592"/>
          </a:xfrm>
          <a:prstGeom prst="rightArrow">
            <a:avLst/>
          </a:prstGeom>
          <a:solidFill>
            <a:srgbClr val="5B6478"/>
          </a:solidFill>
          <a:ln/>
        </p:spPr>
      </p:sp>
      <p:sp>
        <p:nvSpPr>
          <p:cNvPr id="24" name="Shape 22"/>
          <p:cNvSpPr/>
          <p:nvPr/>
        </p:nvSpPr>
        <p:spPr>
          <a:xfrm>
            <a:off x="8503920" y="2331720"/>
            <a:ext cx="2395728" cy="1371600"/>
          </a:xfrm>
          <a:prstGeom prst="roundRect">
            <a:avLst>
              <a:gd name="adj" fmla="val 6667"/>
            </a:avLst>
          </a:prstGeom>
          <a:solidFill>
            <a:srgbClr val="1B2A4A"/>
          </a:solidFill>
          <a:ln/>
          <a:effectLst>
            <a:outerShdw blurRad="101600" dist="38100" dir="5400000" algn="bl" rotWithShape="0">
              <a:srgbClr val="000000">
                <a:alpha val="12000"/>
              </a:srgbClr>
            </a:outerShdw>
          </a:effectLst>
        </p:spPr>
      </p:sp>
      <p:sp>
        <p:nvSpPr>
          <p:cNvPr id="25" name="Shape 23"/>
          <p:cNvSpPr/>
          <p:nvPr/>
        </p:nvSpPr>
        <p:spPr>
          <a:xfrm>
            <a:off x="8686800" y="2514600"/>
            <a:ext cx="384048" cy="384048"/>
          </a:xfrm>
          <a:prstGeom prst="ellipse">
            <a:avLst/>
          </a:prstGeom>
          <a:solidFill>
            <a:srgbClr val="FFFFFF"/>
          </a:solidFill>
          <a:ln/>
        </p:spPr>
      </p:sp>
      <p:sp>
        <p:nvSpPr>
          <p:cNvPr id="26" name="Text 24"/>
          <p:cNvSpPr/>
          <p:nvPr/>
        </p:nvSpPr>
        <p:spPr>
          <a:xfrm>
            <a:off x="8686800" y="2514600"/>
            <a:ext cx="384048" cy="384048"/>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8686800" y="299008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Train / test split</a:t>
            </a:r>
            <a:endParaRPr lang="en-US" sz="1300" dirty="0"/>
          </a:p>
        </p:txBody>
      </p:sp>
      <p:sp>
        <p:nvSpPr>
          <p:cNvPr id="28" name="Text 26"/>
          <p:cNvSpPr/>
          <p:nvPr/>
        </p:nvSpPr>
        <p:spPr>
          <a:xfrm>
            <a:off x="8686800" y="333756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80% / 20%</a:t>
            </a:r>
            <a:endParaRPr lang="en-US" sz="1050" dirty="0"/>
          </a:p>
        </p:txBody>
      </p:sp>
      <p:sp>
        <p:nvSpPr>
          <p:cNvPr id="29" name="Shape 27"/>
          <p:cNvSpPr/>
          <p:nvPr/>
        </p:nvSpPr>
        <p:spPr>
          <a:xfrm>
            <a:off x="548640" y="4434840"/>
            <a:ext cx="2395728" cy="1371600"/>
          </a:xfrm>
          <a:prstGeom prst="roundRect">
            <a:avLst>
              <a:gd name="adj" fmla="val 6667"/>
            </a:avLst>
          </a:prstGeom>
          <a:solidFill>
            <a:srgbClr val="1B2A4A"/>
          </a:solidFill>
          <a:ln/>
          <a:effectLst>
            <a:outerShdw blurRad="101600" dist="38100" dir="5400000" algn="bl" rotWithShape="0">
              <a:srgbClr val="000000">
                <a:alpha val="12000"/>
              </a:srgbClr>
            </a:outerShdw>
          </a:effectLst>
        </p:spPr>
      </p:sp>
      <p:sp>
        <p:nvSpPr>
          <p:cNvPr id="30" name="Shape 28"/>
          <p:cNvSpPr/>
          <p:nvPr/>
        </p:nvSpPr>
        <p:spPr>
          <a:xfrm>
            <a:off x="731520" y="4617720"/>
            <a:ext cx="384048" cy="384048"/>
          </a:xfrm>
          <a:prstGeom prst="ellipse">
            <a:avLst/>
          </a:prstGeom>
          <a:solidFill>
            <a:srgbClr val="FFFFFF"/>
          </a:solidFill>
          <a:ln/>
        </p:spPr>
      </p:sp>
      <p:sp>
        <p:nvSpPr>
          <p:cNvPr id="31" name="Text 29"/>
          <p:cNvSpPr/>
          <p:nvPr/>
        </p:nvSpPr>
        <p:spPr>
          <a:xfrm>
            <a:off x="731520" y="4617720"/>
            <a:ext cx="384048" cy="384048"/>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5</a:t>
            </a:r>
            <a:endParaRPr lang="en-US" sz="1300" dirty="0"/>
          </a:p>
        </p:txBody>
      </p:sp>
      <p:sp>
        <p:nvSpPr>
          <p:cNvPr id="32" name="Text 30"/>
          <p:cNvSpPr/>
          <p:nvPr/>
        </p:nvSpPr>
        <p:spPr>
          <a:xfrm>
            <a:off x="731520" y="509320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Model training</a:t>
            </a:r>
            <a:endParaRPr lang="en-US" sz="1300" dirty="0"/>
          </a:p>
        </p:txBody>
      </p:sp>
      <p:sp>
        <p:nvSpPr>
          <p:cNvPr id="33" name="Text 31"/>
          <p:cNvSpPr/>
          <p:nvPr/>
        </p:nvSpPr>
        <p:spPr>
          <a:xfrm>
            <a:off x="731520" y="544068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LR, NB, SVM</a:t>
            </a:r>
            <a:endParaRPr lang="en-US" sz="1050" dirty="0"/>
          </a:p>
        </p:txBody>
      </p:sp>
      <p:sp>
        <p:nvSpPr>
          <p:cNvPr id="34" name="Shape 32"/>
          <p:cNvSpPr/>
          <p:nvPr/>
        </p:nvSpPr>
        <p:spPr>
          <a:xfrm>
            <a:off x="2962656" y="5038344"/>
            <a:ext cx="219456" cy="164592"/>
          </a:xfrm>
          <a:prstGeom prst="rightArrow">
            <a:avLst/>
          </a:prstGeom>
          <a:solidFill>
            <a:srgbClr val="5B6478"/>
          </a:solidFill>
          <a:ln/>
        </p:spPr>
      </p:sp>
      <p:sp>
        <p:nvSpPr>
          <p:cNvPr id="35" name="Shape 33"/>
          <p:cNvSpPr/>
          <p:nvPr/>
        </p:nvSpPr>
        <p:spPr>
          <a:xfrm>
            <a:off x="3200400" y="4434840"/>
            <a:ext cx="2395728" cy="1371600"/>
          </a:xfrm>
          <a:prstGeom prst="roundRect">
            <a:avLst>
              <a:gd name="adj" fmla="val 6667"/>
            </a:avLst>
          </a:prstGeom>
          <a:solidFill>
            <a:srgbClr val="1B2A4A"/>
          </a:solidFill>
          <a:ln/>
          <a:effectLst>
            <a:outerShdw blurRad="101600" dist="38100" dir="5400000" algn="bl" rotWithShape="0">
              <a:srgbClr val="000000">
                <a:alpha val="12000"/>
              </a:srgbClr>
            </a:outerShdw>
          </a:effectLst>
        </p:spPr>
      </p:sp>
      <p:sp>
        <p:nvSpPr>
          <p:cNvPr id="36" name="Shape 34"/>
          <p:cNvSpPr/>
          <p:nvPr/>
        </p:nvSpPr>
        <p:spPr>
          <a:xfrm>
            <a:off x="3383280" y="4617720"/>
            <a:ext cx="384048" cy="384048"/>
          </a:xfrm>
          <a:prstGeom prst="ellipse">
            <a:avLst/>
          </a:prstGeom>
          <a:solidFill>
            <a:srgbClr val="FFFFFF"/>
          </a:solidFill>
          <a:ln/>
        </p:spPr>
      </p:sp>
      <p:sp>
        <p:nvSpPr>
          <p:cNvPr id="37" name="Text 35"/>
          <p:cNvSpPr/>
          <p:nvPr/>
        </p:nvSpPr>
        <p:spPr>
          <a:xfrm>
            <a:off x="3383280" y="4617720"/>
            <a:ext cx="384048" cy="384048"/>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6</a:t>
            </a:r>
            <a:endParaRPr lang="en-US" sz="1300" dirty="0"/>
          </a:p>
        </p:txBody>
      </p:sp>
      <p:sp>
        <p:nvSpPr>
          <p:cNvPr id="38" name="Text 36"/>
          <p:cNvSpPr/>
          <p:nvPr/>
        </p:nvSpPr>
        <p:spPr>
          <a:xfrm>
            <a:off x="3383280" y="509320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p:txBody>
      </p:sp>
      <p:sp>
        <p:nvSpPr>
          <p:cNvPr id="39" name="Text 37"/>
          <p:cNvSpPr/>
          <p:nvPr/>
        </p:nvSpPr>
        <p:spPr>
          <a:xfrm>
            <a:off x="3383280" y="544068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Confusion matrix</a:t>
            </a:r>
            <a:endParaRPr lang="en-US" sz="1050" dirty="0"/>
          </a:p>
        </p:txBody>
      </p:sp>
      <p:sp>
        <p:nvSpPr>
          <p:cNvPr id="40" name="Shape 38"/>
          <p:cNvSpPr/>
          <p:nvPr/>
        </p:nvSpPr>
        <p:spPr>
          <a:xfrm>
            <a:off x="5614416" y="5038344"/>
            <a:ext cx="219456" cy="164592"/>
          </a:xfrm>
          <a:prstGeom prst="rightArrow">
            <a:avLst/>
          </a:prstGeom>
          <a:solidFill>
            <a:srgbClr val="5B6478"/>
          </a:solidFill>
          <a:ln/>
        </p:spPr>
      </p:sp>
      <p:sp>
        <p:nvSpPr>
          <p:cNvPr id="41" name="Shape 39"/>
          <p:cNvSpPr/>
          <p:nvPr/>
        </p:nvSpPr>
        <p:spPr>
          <a:xfrm>
            <a:off x="5852160" y="4434840"/>
            <a:ext cx="2395728" cy="1371600"/>
          </a:xfrm>
          <a:prstGeom prst="roundRect">
            <a:avLst>
              <a:gd name="adj" fmla="val 6667"/>
            </a:avLst>
          </a:prstGeom>
          <a:solidFill>
            <a:srgbClr val="E25C45"/>
          </a:solidFill>
          <a:ln/>
          <a:effectLst>
            <a:outerShdw blurRad="101600" dist="38100" dir="5400000" algn="bl" rotWithShape="0">
              <a:srgbClr val="000000">
                <a:alpha val="12000"/>
              </a:srgbClr>
            </a:outerShdw>
          </a:effectLst>
        </p:spPr>
      </p:sp>
      <p:sp>
        <p:nvSpPr>
          <p:cNvPr id="42" name="Shape 40"/>
          <p:cNvSpPr/>
          <p:nvPr/>
        </p:nvSpPr>
        <p:spPr>
          <a:xfrm>
            <a:off x="6035040" y="4617720"/>
            <a:ext cx="384048" cy="384048"/>
          </a:xfrm>
          <a:prstGeom prst="ellipse">
            <a:avLst/>
          </a:prstGeom>
          <a:solidFill>
            <a:srgbClr val="FFFFFF"/>
          </a:solidFill>
          <a:ln/>
        </p:spPr>
      </p:sp>
      <p:sp>
        <p:nvSpPr>
          <p:cNvPr id="43" name="Text 41"/>
          <p:cNvSpPr/>
          <p:nvPr/>
        </p:nvSpPr>
        <p:spPr>
          <a:xfrm>
            <a:off x="6035040" y="4617720"/>
            <a:ext cx="384048" cy="384048"/>
          </a:xfrm>
          <a:prstGeom prst="rect">
            <a:avLst/>
          </a:prstGeom>
          <a:noFill/>
          <a:ln/>
        </p:spPr>
        <p:txBody>
          <a:bodyPr wrap="square" lIns="0" tIns="0" rIns="0" bIns="0" rtlCol="0" anchor="ctr"/>
          <a:lstStyle/>
          <a:p>
            <a:pPr marL="0" indent="0" algn="ctr">
              <a:buNone/>
            </a:pPr>
            <a:r>
              <a:rPr lang="en-US" sz="1300" b="1" dirty="0">
                <a:solidFill>
                  <a:srgbClr val="E25C45"/>
                </a:solidFill>
                <a:latin typeface="Calibri" pitchFamily="34" charset="0"/>
                <a:ea typeface="Calibri" pitchFamily="34" charset="-122"/>
                <a:cs typeface="Calibri" pitchFamily="34" charset="-120"/>
              </a:rPr>
              <a:t>7</a:t>
            </a:r>
            <a:endParaRPr lang="en-US" sz="1300" dirty="0"/>
          </a:p>
        </p:txBody>
      </p:sp>
      <p:sp>
        <p:nvSpPr>
          <p:cNvPr id="44" name="Text 42"/>
          <p:cNvSpPr/>
          <p:nvPr/>
        </p:nvSpPr>
        <p:spPr>
          <a:xfrm>
            <a:off x="6035040" y="509320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Serialization</a:t>
            </a:r>
            <a:endParaRPr lang="en-US" sz="1300" dirty="0"/>
          </a:p>
        </p:txBody>
      </p:sp>
      <p:sp>
        <p:nvSpPr>
          <p:cNvPr id="45" name="Text 43"/>
          <p:cNvSpPr/>
          <p:nvPr/>
        </p:nvSpPr>
        <p:spPr>
          <a:xfrm>
            <a:off x="6035040" y="544068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joblib .pkl files</a:t>
            </a:r>
            <a:endParaRPr lang="en-US" sz="1050" dirty="0"/>
          </a:p>
        </p:txBody>
      </p:sp>
      <p:sp>
        <p:nvSpPr>
          <p:cNvPr id="46" name="Shape 44"/>
          <p:cNvSpPr/>
          <p:nvPr/>
        </p:nvSpPr>
        <p:spPr>
          <a:xfrm>
            <a:off x="8266176" y="5038344"/>
            <a:ext cx="219456" cy="164592"/>
          </a:xfrm>
          <a:prstGeom prst="rightArrow">
            <a:avLst/>
          </a:prstGeom>
          <a:solidFill>
            <a:srgbClr val="5B6478"/>
          </a:solidFill>
          <a:ln/>
        </p:spPr>
      </p:sp>
      <p:sp>
        <p:nvSpPr>
          <p:cNvPr id="47" name="Shape 45"/>
          <p:cNvSpPr/>
          <p:nvPr/>
        </p:nvSpPr>
        <p:spPr>
          <a:xfrm>
            <a:off x="8503920" y="4434840"/>
            <a:ext cx="2395728" cy="1371600"/>
          </a:xfrm>
          <a:prstGeom prst="roundRect">
            <a:avLst>
              <a:gd name="adj" fmla="val 6667"/>
            </a:avLst>
          </a:prstGeom>
          <a:solidFill>
            <a:srgbClr val="E25C45"/>
          </a:solidFill>
          <a:ln/>
          <a:effectLst>
            <a:outerShdw blurRad="101600" dist="38100" dir="5400000" algn="bl" rotWithShape="0">
              <a:srgbClr val="000000">
                <a:alpha val="12000"/>
              </a:srgbClr>
            </a:outerShdw>
          </a:effectLst>
        </p:spPr>
      </p:sp>
      <p:sp>
        <p:nvSpPr>
          <p:cNvPr id="48" name="Shape 46"/>
          <p:cNvSpPr/>
          <p:nvPr/>
        </p:nvSpPr>
        <p:spPr>
          <a:xfrm>
            <a:off x="8686800" y="4617720"/>
            <a:ext cx="384048" cy="384048"/>
          </a:xfrm>
          <a:prstGeom prst="ellipse">
            <a:avLst/>
          </a:prstGeom>
          <a:solidFill>
            <a:srgbClr val="FFFFFF"/>
          </a:solidFill>
          <a:ln/>
        </p:spPr>
      </p:sp>
      <p:sp>
        <p:nvSpPr>
          <p:cNvPr id="49" name="Text 47"/>
          <p:cNvSpPr/>
          <p:nvPr/>
        </p:nvSpPr>
        <p:spPr>
          <a:xfrm>
            <a:off x="8686800" y="4617720"/>
            <a:ext cx="384048" cy="384048"/>
          </a:xfrm>
          <a:prstGeom prst="rect">
            <a:avLst/>
          </a:prstGeom>
          <a:noFill/>
          <a:ln/>
        </p:spPr>
        <p:txBody>
          <a:bodyPr wrap="square" lIns="0" tIns="0" rIns="0" bIns="0" rtlCol="0" anchor="ctr"/>
          <a:lstStyle/>
          <a:p>
            <a:pPr marL="0" indent="0" algn="ctr">
              <a:buNone/>
            </a:pPr>
            <a:r>
              <a:rPr lang="en-US" sz="1300" b="1" dirty="0">
                <a:solidFill>
                  <a:srgbClr val="E25C45"/>
                </a:solidFill>
                <a:latin typeface="Calibri" pitchFamily="34" charset="0"/>
                <a:ea typeface="Calibri" pitchFamily="34" charset="-122"/>
                <a:cs typeface="Calibri" pitchFamily="34" charset="-120"/>
              </a:rPr>
              <a:t>8</a:t>
            </a:r>
            <a:endParaRPr lang="en-US" sz="1300" dirty="0"/>
          </a:p>
        </p:txBody>
      </p:sp>
      <p:sp>
        <p:nvSpPr>
          <p:cNvPr id="50" name="Text 48"/>
          <p:cNvSpPr/>
          <p:nvPr/>
        </p:nvSpPr>
        <p:spPr>
          <a:xfrm>
            <a:off x="8686800" y="5093208"/>
            <a:ext cx="202996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Deployment</a:t>
            </a:r>
            <a:endParaRPr lang="en-US" sz="1300" dirty="0"/>
          </a:p>
        </p:txBody>
      </p:sp>
      <p:sp>
        <p:nvSpPr>
          <p:cNvPr id="51" name="Text 49"/>
          <p:cNvSpPr/>
          <p:nvPr/>
        </p:nvSpPr>
        <p:spPr>
          <a:xfrm>
            <a:off x="8686800" y="5440680"/>
            <a:ext cx="2029968" cy="320040"/>
          </a:xfrm>
          <a:prstGeom prst="rect">
            <a:avLst/>
          </a:prstGeom>
          <a:noFill/>
          <a:ln/>
        </p:spPr>
        <p:txBody>
          <a:bodyPr wrap="square" lIns="0" tIns="0" rIns="0" bIns="0" rtlCol="0" anchor="ctr"/>
          <a:lstStyle/>
          <a:p>
            <a:pPr marL="0" indent="0">
              <a:buNone/>
            </a:pPr>
            <a:r>
              <a:rPr lang="en-US" sz="1050" dirty="0">
                <a:solidFill>
                  <a:srgbClr val="E8EDF7"/>
                </a:solidFill>
                <a:latin typeface="Calibri" pitchFamily="34" charset="0"/>
                <a:ea typeface="Calibri" pitchFamily="34" charset="-122"/>
                <a:cs typeface="Calibri" pitchFamily="34" charset="-120"/>
              </a:rPr>
              <a:t>Flask + Render</a:t>
            </a:r>
            <a:endParaRPr lang="en-US" sz="1050" dirty="0"/>
          </a:p>
        </p:txBody>
      </p:sp>
      <p:sp>
        <p:nvSpPr>
          <p:cNvPr id="52" name="Shape 50"/>
          <p:cNvSpPr/>
          <p:nvPr/>
        </p:nvSpPr>
        <p:spPr>
          <a:xfrm>
            <a:off x="9619488" y="3758184"/>
            <a:ext cx="164592" cy="164592"/>
          </a:xfrm>
          <a:prstGeom prst="downArrow">
            <a:avLst/>
          </a:prstGeom>
          <a:solidFill>
            <a:srgbClr val="5B6478"/>
          </a:solidFill>
          <a:ln/>
        </p:spPr>
      </p:sp>
      <p:sp>
        <p:nvSpPr>
          <p:cNvPr id="53" name="Text 51"/>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54" name="Text 5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ML PIPELINE · STEP 1</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Data collection scheme</a:t>
            </a:r>
            <a:endParaRPr lang="en-US" sz="3000" dirty="0"/>
          </a:p>
        </p:txBody>
      </p:sp>
      <p:sp>
        <p:nvSpPr>
          <p:cNvPr id="5" name="Text 3"/>
          <p:cNvSpPr/>
          <p:nvPr/>
        </p:nvSpPr>
        <p:spPr>
          <a:xfrm>
            <a:off x="548640" y="1828800"/>
            <a:ext cx="5029200" cy="4023360"/>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Source</a:t>
            </a:r>
            <a:endParaRPr lang="en-US" sz="1400" dirty="0"/>
          </a:p>
          <a:p>
            <a:pPr marL="0" indent="0">
              <a:buNone/>
            </a:pPr>
            <a:r>
              <a:rPr lang="en-US" sz="1400" dirty="0">
                <a:solidFill>
                  <a:srgbClr val="5B6478"/>
                </a:solidFill>
                <a:latin typeface="Calibri" pitchFamily="34" charset="0"/>
                <a:ea typeface="Calibri" pitchFamily="34" charset="-122"/>
                <a:cs typeface="Calibri" pitchFamily="34" charset="-120"/>
              </a:rPr>
              <a:t>Kaggle — Fake and Real News Dataset (public, pre-labelled)</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B2A4A"/>
                </a:solidFill>
                <a:latin typeface="Calibri" pitchFamily="34" charset="0"/>
                <a:ea typeface="Calibri" pitchFamily="34" charset="-122"/>
                <a:cs typeface="Calibri" pitchFamily="34" charset="-120"/>
              </a:rPr>
              <a:t>Method</a:t>
            </a:r>
            <a:endParaRPr lang="en-US" sz="1400" dirty="0"/>
          </a:p>
          <a:p>
            <a:pPr marL="0" indent="0">
              <a:buNone/>
            </a:pPr>
            <a:r>
              <a:rPr lang="en-US" sz="1400" dirty="0">
                <a:solidFill>
                  <a:srgbClr val="5B6478"/>
                </a:solidFill>
                <a:latin typeface="Calibri" pitchFamily="34" charset="0"/>
                <a:ea typeface="Calibri" pitchFamily="34" charset="-122"/>
                <a:cs typeface="Calibri" pitchFamily="34" charset="-120"/>
              </a:rPr>
              <a:t>Direct CSV download — no live web scraping involved</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B2A4A"/>
                </a:solidFill>
                <a:latin typeface="Calibri" pitchFamily="34" charset="0"/>
                <a:ea typeface="Calibri" pitchFamily="34" charset="-122"/>
                <a:cs typeface="Calibri" pitchFamily="34" charset="-120"/>
              </a:rPr>
              <a:t>Files used</a:t>
            </a:r>
            <a:endParaRPr lang="en-US" sz="1400" dirty="0"/>
          </a:p>
          <a:p>
            <a:pPr marL="0" indent="0">
              <a:buNone/>
            </a:pPr>
            <a:r>
              <a:rPr lang="en-US" sz="1400" dirty="0">
                <a:solidFill>
                  <a:srgbClr val="5B6478"/>
                </a:solidFill>
                <a:latin typeface="Calibri" pitchFamily="34" charset="0"/>
                <a:ea typeface="Calibri" pitchFamily="34" charset="-122"/>
                <a:cs typeface="Calibri" pitchFamily="34" charset="-120"/>
              </a:rPr>
              <a:t>Fake.csv and True.csv, each with title, text, subject, date</a:t>
            </a:r>
            <a:endParaRPr lang="en-US" sz="1400" dirty="0"/>
          </a:p>
        </p:txBody>
      </p:sp>
      <p:sp>
        <p:nvSpPr>
          <p:cNvPr id="6" name="Shape 4"/>
          <p:cNvSpPr/>
          <p:nvPr/>
        </p:nvSpPr>
        <p:spPr>
          <a:xfrm>
            <a:off x="548640" y="5074920"/>
            <a:ext cx="1600200" cy="960120"/>
          </a:xfrm>
          <a:prstGeom prst="roundRect">
            <a:avLst>
              <a:gd name="adj" fmla="val 7619"/>
            </a:avLst>
          </a:prstGeom>
          <a:solidFill>
            <a:srgbClr val="1B2A4A"/>
          </a:solidFill>
          <a:ln/>
        </p:spPr>
      </p:sp>
      <p:sp>
        <p:nvSpPr>
          <p:cNvPr id="7" name="Text 5"/>
          <p:cNvSpPr/>
          <p:nvPr/>
        </p:nvSpPr>
        <p:spPr>
          <a:xfrm>
            <a:off x="548640" y="5166360"/>
            <a:ext cx="1600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44,898</a:t>
            </a:r>
            <a:endParaRPr lang="en-US" sz="1800" dirty="0"/>
          </a:p>
        </p:txBody>
      </p:sp>
      <p:sp>
        <p:nvSpPr>
          <p:cNvPr id="8" name="Text 6"/>
          <p:cNvSpPr/>
          <p:nvPr/>
        </p:nvSpPr>
        <p:spPr>
          <a:xfrm>
            <a:off x="548640" y="5623560"/>
            <a:ext cx="1600200" cy="320040"/>
          </a:xfrm>
          <a:prstGeom prst="rect">
            <a:avLst/>
          </a:prstGeom>
          <a:noFill/>
          <a:ln/>
        </p:spPr>
        <p:txBody>
          <a:bodyPr wrap="square" lIns="0" tIns="0" rIns="0" bIns="0" rtlCol="0" anchor="ctr"/>
          <a:lstStyle/>
          <a:p>
            <a:pPr marL="0" indent="0" algn="ctr">
              <a:buNone/>
            </a:pPr>
            <a:r>
              <a:rPr lang="en-US" sz="900" dirty="0">
                <a:solidFill>
                  <a:srgbClr val="E8EDF7"/>
                </a:solidFill>
                <a:latin typeface="Calibri" pitchFamily="34" charset="0"/>
                <a:ea typeface="Calibri" pitchFamily="34" charset="-122"/>
                <a:cs typeface="Calibri" pitchFamily="34" charset="-120"/>
              </a:rPr>
              <a:t>Total articles</a:t>
            </a:r>
            <a:endParaRPr lang="en-US" sz="900" dirty="0"/>
          </a:p>
        </p:txBody>
      </p:sp>
      <p:sp>
        <p:nvSpPr>
          <p:cNvPr id="9" name="Shape 7"/>
          <p:cNvSpPr/>
          <p:nvPr/>
        </p:nvSpPr>
        <p:spPr>
          <a:xfrm>
            <a:off x="2331720" y="5074920"/>
            <a:ext cx="1600200" cy="960120"/>
          </a:xfrm>
          <a:prstGeom prst="roundRect">
            <a:avLst>
              <a:gd name="adj" fmla="val 7619"/>
            </a:avLst>
          </a:prstGeom>
          <a:solidFill>
            <a:srgbClr val="E25C45"/>
          </a:solidFill>
          <a:ln/>
        </p:spPr>
      </p:sp>
      <p:sp>
        <p:nvSpPr>
          <p:cNvPr id="10" name="Text 8"/>
          <p:cNvSpPr/>
          <p:nvPr/>
        </p:nvSpPr>
        <p:spPr>
          <a:xfrm>
            <a:off x="2331720" y="5166360"/>
            <a:ext cx="1600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23,481</a:t>
            </a:r>
            <a:endParaRPr lang="en-US" sz="1800" dirty="0"/>
          </a:p>
        </p:txBody>
      </p:sp>
      <p:sp>
        <p:nvSpPr>
          <p:cNvPr id="11" name="Text 9"/>
          <p:cNvSpPr/>
          <p:nvPr/>
        </p:nvSpPr>
        <p:spPr>
          <a:xfrm>
            <a:off x="2331720" y="5623560"/>
            <a:ext cx="1600200" cy="320040"/>
          </a:xfrm>
          <a:prstGeom prst="rect">
            <a:avLst/>
          </a:prstGeom>
          <a:noFill/>
          <a:ln/>
        </p:spPr>
        <p:txBody>
          <a:bodyPr wrap="square" lIns="0" tIns="0" rIns="0" bIns="0" rtlCol="0" anchor="ctr"/>
          <a:lstStyle/>
          <a:p>
            <a:pPr marL="0" indent="0" algn="ctr">
              <a:buNone/>
            </a:pPr>
            <a:r>
              <a:rPr lang="en-US" sz="900" dirty="0">
                <a:solidFill>
                  <a:srgbClr val="E8EDF7"/>
                </a:solidFill>
                <a:latin typeface="Calibri" pitchFamily="34" charset="0"/>
                <a:ea typeface="Calibri" pitchFamily="34" charset="-122"/>
                <a:cs typeface="Calibri" pitchFamily="34" charset="-120"/>
              </a:rPr>
              <a:t>Fake news</a:t>
            </a:r>
            <a:endParaRPr lang="en-US" sz="900" dirty="0"/>
          </a:p>
        </p:txBody>
      </p:sp>
      <p:sp>
        <p:nvSpPr>
          <p:cNvPr id="12" name="Shape 10"/>
          <p:cNvSpPr/>
          <p:nvPr/>
        </p:nvSpPr>
        <p:spPr>
          <a:xfrm>
            <a:off x="4114800" y="5074920"/>
            <a:ext cx="1600200" cy="960120"/>
          </a:xfrm>
          <a:prstGeom prst="roundRect">
            <a:avLst>
              <a:gd name="adj" fmla="val 7619"/>
            </a:avLst>
          </a:prstGeom>
          <a:solidFill>
            <a:srgbClr val="1B2A4A"/>
          </a:solidFill>
          <a:ln/>
        </p:spPr>
      </p:sp>
      <p:sp>
        <p:nvSpPr>
          <p:cNvPr id="13" name="Text 11"/>
          <p:cNvSpPr/>
          <p:nvPr/>
        </p:nvSpPr>
        <p:spPr>
          <a:xfrm>
            <a:off x="4114800" y="5166360"/>
            <a:ext cx="1600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21,417</a:t>
            </a:r>
            <a:endParaRPr lang="en-US" sz="1800" dirty="0"/>
          </a:p>
        </p:txBody>
      </p:sp>
      <p:sp>
        <p:nvSpPr>
          <p:cNvPr id="14" name="Text 12"/>
          <p:cNvSpPr/>
          <p:nvPr/>
        </p:nvSpPr>
        <p:spPr>
          <a:xfrm>
            <a:off x="4114800" y="5623560"/>
            <a:ext cx="1600200" cy="320040"/>
          </a:xfrm>
          <a:prstGeom prst="rect">
            <a:avLst/>
          </a:prstGeom>
          <a:noFill/>
          <a:ln/>
        </p:spPr>
        <p:txBody>
          <a:bodyPr wrap="square" lIns="0" tIns="0" rIns="0" bIns="0" rtlCol="0" anchor="ctr"/>
          <a:lstStyle/>
          <a:p>
            <a:pPr marL="0" indent="0" algn="ctr">
              <a:buNone/>
            </a:pPr>
            <a:r>
              <a:rPr lang="en-US" sz="900" dirty="0">
                <a:solidFill>
                  <a:srgbClr val="E8EDF7"/>
                </a:solidFill>
                <a:latin typeface="Calibri" pitchFamily="34" charset="0"/>
                <a:ea typeface="Calibri" pitchFamily="34" charset="-122"/>
                <a:cs typeface="Calibri" pitchFamily="34" charset="-120"/>
              </a:rPr>
              <a:t>Real news</a:t>
            </a:r>
            <a:endParaRPr lang="en-US" sz="900" dirty="0"/>
          </a:p>
        </p:txBody>
      </p:sp>
      <p:sp>
        <p:nvSpPr>
          <p:cNvPr id="15" name="Shape 13"/>
          <p:cNvSpPr/>
          <p:nvPr/>
        </p:nvSpPr>
        <p:spPr>
          <a:xfrm>
            <a:off x="6035040" y="2834640"/>
            <a:ext cx="5577840" cy="2331720"/>
          </a:xfrm>
          <a:prstGeom prst="roundRect">
            <a:avLst>
              <a:gd name="adj" fmla="val 3137"/>
            </a:avLst>
          </a:prstGeom>
          <a:solidFill>
            <a:srgbClr val="0C0F14"/>
          </a:solidFill>
          <a:ln/>
          <a:effectLst>
            <a:outerShdw blurRad="101600" dist="38100" dir="5400000" algn="bl" rotWithShape="0">
              <a:srgbClr val="000000">
                <a:alpha val="12000"/>
              </a:srgbClr>
            </a:outerShdw>
          </a:effectLst>
        </p:spPr>
      </p:sp>
      <p:pic>
        <p:nvPicPr>
          <p:cNvPr id="16" name="Image 0" descr="images/slide3_data_collection.png"/>
          <p:cNvPicPr>
            <a:picLocks noChangeAspect="1"/>
          </p:cNvPicPr>
          <p:nvPr/>
        </p:nvPicPr>
        <p:blipFill>
          <a:blip r:embed="rId3"/>
          <a:srcRect/>
          <a:stretch/>
        </p:blipFill>
        <p:spPr>
          <a:xfrm>
            <a:off x="6172200" y="2971800"/>
            <a:ext cx="5303520" cy="1920240"/>
          </a:xfrm>
          <a:prstGeom prst="rect">
            <a:avLst/>
          </a:prstGeom>
        </p:spPr>
      </p:pic>
      <p:sp>
        <p:nvSpPr>
          <p:cNvPr id="17" name="Text 14"/>
          <p:cNvSpPr/>
          <p:nvPr/>
        </p:nvSpPr>
        <p:spPr>
          <a:xfrm>
            <a:off x="6035040" y="5230368"/>
            <a:ext cx="5577840" cy="274320"/>
          </a:xfrm>
          <a:prstGeom prst="rect">
            <a:avLst/>
          </a:prstGeom>
          <a:noFill/>
          <a:ln/>
        </p:spPr>
        <p:txBody>
          <a:bodyPr wrap="square" lIns="0" tIns="0" rIns="0" bIns="0" rtlCol="0" anchor="ctr"/>
          <a:lstStyle/>
          <a:p>
            <a:pPr marL="0" indent="0" algn="ctr">
              <a:buNone/>
            </a:pPr>
            <a:r>
              <a:rPr lang="en-US" sz="900" i="1" dirty="0">
                <a:solidFill>
                  <a:srgbClr val="5B6478"/>
                </a:solidFill>
                <a:latin typeface="Calibri" pitchFamily="34" charset="0"/>
                <a:ea typeface="Calibri" pitchFamily="34" charset="-122"/>
                <a:cs typeface="Calibri" pitchFamily="34" charset="-120"/>
              </a:rPr>
              <a:t>Raw CSV — title, text, subject, date columns</a:t>
            </a:r>
            <a:endParaRPr lang="en-US" sz="900" dirty="0"/>
          </a:p>
        </p:txBody>
      </p:sp>
      <p:sp>
        <p:nvSpPr>
          <p:cNvPr id="18" name="Text 15"/>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9" name="Text 16"/>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ML PIPELINE · STEP 2</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Data preprocessing</a:t>
            </a:r>
            <a:endParaRPr lang="en-US" sz="3000" dirty="0"/>
          </a:p>
        </p:txBody>
      </p:sp>
      <p:sp>
        <p:nvSpPr>
          <p:cNvPr id="5" name="Shape 3"/>
          <p:cNvSpPr/>
          <p:nvPr/>
        </p:nvSpPr>
        <p:spPr>
          <a:xfrm>
            <a:off x="548640" y="1874520"/>
            <a:ext cx="2468880" cy="1371600"/>
          </a:xfrm>
          <a:prstGeom prst="roundRect">
            <a:avLst>
              <a:gd name="adj" fmla="val 6667"/>
            </a:avLst>
          </a:prstGeom>
          <a:solidFill>
            <a:srgbClr val="FFFFFF"/>
          </a:solidFill>
          <a:ln/>
          <a:effectLst>
            <a:outerShdw blurRad="101600" dist="38100" dir="5400000" algn="bl" rotWithShape="0">
              <a:srgbClr val="000000">
                <a:alpha val="12000"/>
              </a:srgbClr>
            </a:outerShdw>
          </a:effectLst>
        </p:spPr>
      </p:sp>
      <p:sp>
        <p:nvSpPr>
          <p:cNvPr id="6" name="Shape 4"/>
          <p:cNvSpPr/>
          <p:nvPr/>
        </p:nvSpPr>
        <p:spPr>
          <a:xfrm>
            <a:off x="731520" y="2057400"/>
            <a:ext cx="411480" cy="411480"/>
          </a:xfrm>
          <a:prstGeom prst="ellipse">
            <a:avLst/>
          </a:prstGeom>
          <a:solidFill>
            <a:srgbClr val="E25C45"/>
          </a:solidFill>
          <a:ln/>
        </p:spPr>
      </p:sp>
      <p:sp>
        <p:nvSpPr>
          <p:cNvPr id="7" name="Text 5"/>
          <p:cNvSpPr/>
          <p:nvPr/>
        </p:nvSpPr>
        <p:spPr>
          <a:xfrm>
            <a:off x="731520" y="20574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31520" y="2542032"/>
            <a:ext cx="210312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Remove nulls</a:t>
            </a:r>
            <a:endParaRPr lang="en-US" sz="1300" dirty="0"/>
          </a:p>
        </p:txBody>
      </p:sp>
      <p:sp>
        <p:nvSpPr>
          <p:cNvPr id="9" name="Text 7"/>
          <p:cNvSpPr/>
          <p:nvPr/>
        </p:nvSpPr>
        <p:spPr>
          <a:xfrm>
            <a:off x="731520" y="2834640"/>
            <a:ext cx="2103120" cy="365760"/>
          </a:xfrm>
          <a:prstGeom prst="rect">
            <a:avLst/>
          </a:prstGeom>
          <a:noFill/>
          <a:ln/>
        </p:spPr>
        <p:txBody>
          <a:bodyPr wrap="square" lIns="0" tIns="0" rIns="0" bIns="0" rtlCol="0" anchor="ctr"/>
          <a:lstStyle/>
          <a:p>
            <a:pPr marL="0" indent="0">
              <a:buNone/>
            </a:pPr>
            <a:r>
              <a:rPr lang="en-US" sz="1000" dirty="0">
                <a:solidFill>
                  <a:srgbClr val="5B6478"/>
                </a:solidFill>
                <a:latin typeface="Calibri" pitchFamily="34" charset="0"/>
                <a:ea typeface="Calibri" pitchFamily="34" charset="-122"/>
                <a:cs typeface="Calibri" pitchFamily="34" charset="-120"/>
              </a:rPr>
              <a:t>Dropped incomplete rows</a:t>
            </a:r>
            <a:endParaRPr lang="en-US" sz="1000" dirty="0"/>
          </a:p>
        </p:txBody>
      </p:sp>
      <p:sp>
        <p:nvSpPr>
          <p:cNvPr id="10" name="Shape 8"/>
          <p:cNvSpPr/>
          <p:nvPr/>
        </p:nvSpPr>
        <p:spPr>
          <a:xfrm>
            <a:off x="3246120" y="1874520"/>
            <a:ext cx="2468880" cy="1371600"/>
          </a:xfrm>
          <a:prstGeom prst="roundRect">
            <a:avLst>
              <a:gd name="adj" fmla="val 6667"/>
            </a:avLst>
          </a:prstGeom>
          <a:solidFill>
            <a:srgbClr val="FFFFFF"/>
          </a:solidFill>
          <a:ln/>
          <a:effectLst>
            <a:outerShdw blurRad="101600" dist="38100" dir="5400000" algn="bl" rotWithShape="0">
              <a:srgbClr val="000000">
                <a:alpha val="12000"/>
              </a:srgbClr>
            </a:outerShdw>
          </a:effectLst>
        </p:spPr>
      </p:sp>
      <p:sp>
        <p:nvSpPr>
          <p:cNvPr id="11" name="Shape 9"/>
          <p:cNvSpPr/>
          <p:nvPr/>
        </p:nvSpPr>
        <p:spPr>
          <a:xfrm>
            <a:off x="3429000" y="2057400"/>
            <a:ext cx="411480" cy="411480"/>
          </a:xfrm>
          <a:prstGeom prst="ellipse">
            <a:avLst/>
          </a:prstGeom>
          <a:solidFill>
            <a:srgbClr val="E25C45"/>
          </a:solidFill>
          <a:ln/>
        </p:spPr>
      </p:sp>
      <p:sp>
        <p:nvSpPr>
          <p:cNvPr id="12" name="Text 10"/>
          <p:cNvSpPr/>
          <p:nvPr/>
        </p:nvSpPr>
        <p:spPr>
          <a:xfrm>
            <a:off x="3429000" y="20574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429000" y="2542032"/>
            <a:ext cx="210312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Merge fields</a:t>
            </a:r>
            <a:endParaRPr lang="en-US" sz="1300" dirty="0"/>
          </a:p>
        </p:txBody>
      </p:sp>
      <p:sp>
        <p:nvSpPr>
          <p:cNvPr id="14" name="Text 12"/>
          <p:cNvSpPr/>
          <p:nvPr/>
        </p:nvSpPr>
        <p:spPr>
          <a:xfrm>
            <a:off x="3429000" y="2834640"/>
            <a:ext cx="2103120" cy="365760"/>
          </a:xfrm>
          <a:prstGeom prst="rect">
            <a:avLst/>
          </a:prstGeom>
          <a:noFill/>
          <a:ln/>
        </p:spPr>
        <p:txBody>
          <a:bodyPr wrap="square" lIns="0" tIns="0" rIns="0" bIns="0" rtlCol="0" anchor="ctr"/>
          <a:lstStyle/>
          <a:p>
            <a:pPr marL="0" indent="0">
              <a:buNone/>
            </a:pPr>
            <a:r>
              <a:rPr lang="en-US" sz="1000" dirty="0">
                <a:solidFill>
                  <a:srgbClr val="5B6478"/>
                </a:solidFill>
                <a:latin typeface="Calibri" pitchFamily="34" charset="0"/>
                <a:ea typeface="Calibri" pitchFamily="34" charset="-122"/>
                <a:cs typeface="Calibri" pitchFamily="34" charset="-120"/>
              </a:rPr>
              <a:t>Combined title + text</a:t>
            </a:r>
            <a:endParaRPr lang="en-US" sz="1000" dirty="0"/>
          </a:p>
        </p:txBody>
      </p:sp>
      <p:sp>
        <p:nvSpPr>
          <p:cNvPr id="15" name="Shape 13"/>
          <p:cNvSpPr/>
          <p:nvPr/>
        </p:nvSpPr>
        <p:spPr>
          <a:xfrm>
            <a:off x="5943600" y="1874520"/>
            <a:ext cx="2468880" cy="1371600"/>
          </a:xfrm>
          <a:prstGeom prst="roundRect">
            <a:avLst>
              <a:gd name="adj" fmla="val 6667"/>
            </a:avLst>
          </a:prstGeom>
          <a:solidFill>
            <a:srgbClr val="FFFFFF"/>
          </a:solidFill>
          <a:ln/>
          <a:effectLst>
            <a:outerShdw blurRad="101600" dist="38100" dir="5400000" algn="bl" rotWithShape="0">
              <a:srgbClr val="000000">
                <a:alpha val="12000"/>
              </a:srgbClr>
            </a:outerShdw>
          </a:effectLst>
        </p:spPr>
      </p:sp>
      <p:sp>
        <p:nvSpPr>
          <p:cNvPr id="16" name="Shape 14"/>
          <p:cNvSpPr/>
          <p:nvPr/>
        </p:nvSpPr>
        <p:spPr>
          <a:xfrm>
            <a:off x="6126480" y="2057400"/>
            <a:ext cx="411480" cy="411480"/>
          </a:xfrm>
          <a:prstGeom prst="ellipse">
            <a:avLst/>
          </a:prstGeom>
          <a:solidFill>
            <a:srgbClr val="E25C45"/>
          </a:solidFill>
          <a:ln/>
        </p:spPr>
      </p:sp>
      <p:sp>
        <p:nvSpPr>
          <p:cNvPr id="17" name="Text 15"/>
          <p:cNvSpPr/>
          <p:nvPr/>
        </p:nvSpPr>
        <p:spPr>
          <a:xfrm>
            <a:off x="6126480" y="20574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6126480" y="2542032"/>
            <a:ext cx="210312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Label encode</a:t>
            </a:r>
            <a:endParaRPr lang="en-US" sz="1300" dirty="0"/>
          </a:p>
        </p:txBody>
      </p:sp>
      <p:sp>
        <p:nvSpPr>
          <p:cNvPr id="19" name="Text 17"/>
          <p:cNvSpPr/>
          <p:nvPr/>
        </p:nvSpPr>
        <p:spPr>
          <a:xfrm>
            <a:off x="6126480" y="2834640"/>
            <a:ext cx="2103120" cy="365760"/>
          </a:xfrm>
          <a:prstGeom prst="rect">
            <a:avLst/>
          </a:prstGeom>
          <a:noFill/>
          <a:ln/>
        </p:spPr>
        <p:txBody>
          <a:bodyPr wrap="square" lIns="0" tIns="0" rIns="0" bIns="0" rtlCol="0" anchor="ctr"/>
          <a:lstStyle/>
          <a:p>
            <a:pPr marL="0" indent="0">
              <a:buNone/>
            </a:pPr>
            <a:r>
              <a:rPr lang="en-US" sz="1000" dirty="0">
                <a:solidFill>
                  <a:srgbClr val="5B6478"/>
                </a:solidFill>
                <a:latin typeface="Calibri" pitchFamily="34" charset="0"/>
                <a:ea typeface="Calibri" pitchFamily="34" charset="-122"/>
                <a:cs typeface="Calibri" pitchFamily="34" charset="-120"/>
              </a:rPr>
              <a:t>Fake = 0, Real = 1</a:t>
            </a:r>
            <a:endParaRPr lang="en-US" sz="1000" dirty="0"/>
          </a:p>
        </p:txBody>
      </p:sp>
      <p:sp>
        <p:nvSpPr>
          <p:cNvPr id="20" name="Shape 18"/>
          <p:cNvSpPr/>
          <p:nvPr/>
        </p:nvSpPr>
        <p:spPr>
          <a:xfrm>
            <a:off x="8641080" y="1874520"/>
            <a:ext cx="2468880" cy="1371600"/>
          </a:xfrm>
          <a:prstGeom prst="roundRect">
            <a:avLst>
              <a:gd name="adj" fmla="val 6667"/>
            </a:avLst>
          </a:prstGeom>
          <a:solidFill>
            <a:srgbClr val="FFFFFF"/>
          </a:solidFill>
          <a:ln/>
          <a:effectLst>
            <a:outerShdw blurRad="101600" dist="38100" dir="5400000" algn="bl" rotWithShape="0">
              <a:srgbClr val="000000">
                <a:alpha val="12000"/>
              </a:srgbClr>
            </a:outerShdw>
          </a:effectLst>
        </p:spPr>
      </p:sp>
      <p:sp>
        <p:nvSpPr>
          <p:cNvPr id="21" name="Shape 19"/>
          <p:cNvSpPr/>
          <p:nvPr/>
        </p:nvSpPr>
        <p:spPr>
          <a:xfrm>
            <a:off x="8823960" y="2057400"/>
            <a:ext cx="411480" cy="411480"/>
          </a:xfrm>
          <a:prstGeom prst="ellipse">
            <a:avLst/>
          </a:prstGeom>
          <a:solidFill>
            <a:srgbClr val="E25C45"/>
          </a:solidFill>
          <a:ln/>
        </p:spPr>
      </p:sp>
      <p:sp>
        <p:nvSpPr>
          <p:cNvPr id="22" name="Text 20"/>
          <p:cNvSpPr/>
          <p:nvPr/>
        </p:nvSpPr>
        <p:spPr>
          <a:xfrm>
            <a:off x="8823960" y="20574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8823960" y="2542032"/>
            <a:ext cx="210312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Shuffle</a:t>
            </a:r>
            <a:endParaRPr lang="en-US" sz="1300" dirty="0"/>
          </a:p>
        </p:txBody>
      </p:sp>
      <p:sp>
        <p:nvSpPr>
          <p:cNvPr id="24" name="Text 22"/>
          <p:cNvSpPr/>
          <p:nvPr/>
        </p:nvSpPr>
        <p:spPr>
          <a:xfrm>
            <a:off x="8823960" y="2834640"/>
            <a:ext cx="2103120" cy="365760"/>
          </a:xfrm>
          <a:prstGeom prst="rect">
            <a:avLst/>
          </a:prstGeom>
          <a:noFill/>
          <a:ln/>
        </p:spPr>
        <p:txBody>
          <a:bodyPr wrap="square" lIns="0" tIns="0" rIns="0" bIns="0" rtlCol="0" anchor="ctr"/>
          <a:lstStyle/>
          <a:p>
            <a:pPr marL="0" indent="0">
              <a:buNone/>
            </a:pPr>
            <a:r>
              <a:rPr lang="en-US" sz="1000" dirty="0">
                <a:solidFill>
                  <a:srgbClr val="5B6478"/>
                </a:solidFill>
                <a:latin typeface="Calibri" pitchFamily="34" charset="0"/>
                <a:ea typeface="Calibri" pitchFamily="34" charset="-122"/>
                <a:cs typeface="Calibri" pitchFamily="34" charset="-120"/>
              </a:rPr>
              <a:t>Randomised row order</a:t>
            </a:r>
            <a:endParaRPr lang="en-US" sz="1000" dirty="0"/>
          </a:p>
        </p:txBody>
      </p:sp>
      <p:sp>
        <p:nvSpPr>
          <p:cNvPr id="25" name="Shape 23"/>
          <p:cNvSpPr/>
          <p:nvPr/>
        </p:nvSpPr>
        <p:spPr>
          <a:xfrm>
            <a:off x="548640" y="3566160"/>
            <a:ext cx="5760720" cy="2468880"/>
          </a:xfrm>
          <a:prstGeom prst="roundRect">
            <a:avLst>
              <a:gd name="adj" fmla="val 3704"/>
            </a:avLst>
          </a:prstGeom>
          <a:solidFill>
            <a:srgbClr val="1B2A4A"/>
          </a:solidFill>
          <a:ln/>
          <a:effectLst>
            <a:outerShdw blurRad="101600" dist="38100" dir="5400000" algn="bl" rotWithShape="0">
              <a:srgbClr val="000000">
                <a:alpha val="12000"/>
              </a:srgbClr>
            </a:outerShdw>
          </a:effectLst>
        </p:spPr>
      </p:sp>
      <p:sp>
        <p:nvSpPr>
          <p:cNvPr id="26" name="Text 24"/>
          <p:cNvSpPr/>
          <p:nvPr/>
        </p:nvSpPr>
        <p:spPr>
          <a:xfrm>
            <a:off x="868680" y="3794760"/>
            <a:ext cx="5120640" cy="274320"/>
          </a:xfrm>
          <a:prstGeom prst="rect">
            <a:avLst/>
          </a:prstGeom>
          <a:noFill/>
          <a:ln/>
        </p:spPr>
        <p:txBody>
          <a:bodyPr wrap="square" lIns="0" tIns="0" rIns="0" bIns="0" rtlCol="0" anchor="ctr"/>
          <a:lstStyle/>
          <a:p>
            <a:pPr marL="0" indent="0">
              <a:buNone/>
            </a:pPr>
            <a:r>
              <a:rPr lang="en-US" sz="1100" b="1" kern="0" spc="100" dirty="0">
                <a:solidFill>
                  <a:srgbClr val="E25C45"/>
                </a:solidFill>
                <a:latin typeface="Calibri" pitchFamily="34" charset="0"/>
                <a:ea typeface="Calibri" pitchFamily="34" charset="-122"/>
                <a:cs typeface="Calibri" pitchFamily="34" charset="-120"/>
              </a:rPr>
              <a:t>WHY THIS MATTERS</a:t>
            </a:r>
            <a:endParaRPr lang="en-US" sz="1100" dirty="0"/>
          </a:p>
        </p:txBody>
      </p:sp>
      <p:sp>
        <p:nvSpPr>
          <p:cNvPr id="27" name="Text 25"/>
          <p:cNvSpPr/>
          <p:nvPr/>
        </p:nvSpPr>
        <p:spPr>
          <a:xfrm>
            <a:off x="868680" y="4160520"/>
            <a:ext cx="5120640" cy="1737360"/>
          </a:xfrm>
          <a:prstGeom prst="rect">
            <a:avLst/>
          </a:prstGeom>
          <a:noFill/>
          <a:ln/>
        </p:spPr>
        <p:txBody>
          <a:bodyPr wrap="square" lIns="0" tIns="0" rIns="0" bIns="0" rtlCol="0" anchor="t"/>
          <a:lstStyle/>
          <a:p>
            <a:pPr marL="0" indent="0">
              <a:buNone/>
            </a:pPr>
            <a:r>
              <a:rPr lang="en-US" sz="1300" dirty="0">
                <a:solidFill>
                  <a:srgbClr val="E8EDF7"/>
                </a:solidFill>
                <a:latin typeface="Calibri" pitchFamily="34" charset="0"/>
                <a:ea typeface="Calibri" pitchFamily="34" charset="-122"/>
                <a:cs typeface="Calibri" pitchFamily="34" charset="-120"/>
              </a:rPr>
              <a:t>Combining the headline and article body gives the model more context per sample. Encoding labels as 0/1 lets scikit-learn treat this as a binary classification problem, and shuffling prevents the model from learning order-based patterns instead of content patterns.</a:t>
            </a:r>
            <a:endParaRPr lang="en-US" sz="1300" dirty="0"/>
          </a:p>
        </p:txBody>
      </p:sp>
      <p:sp>
        <p:nvSpPr>
          <p:cNvPr id="28" name="Shape 26"/>
          <p:cNvSpPr/>
          <p:nvPr/>
        </p:nvSpPr>
        <p:spPr>
          <a:xfrm>
            <a:off x="6537960" y="3566160"/>
            <a:ext cx="5074920" cy="2468880"/>
          </a:xfrm>
          <a:prstGeom prst="roundRect">
            <a:avLst>
              <a:gd name="adj" fmla="val 2963"/>
            </a:avLst>
          </a:prstGeom>
          <a:solidFill>
            <a:srgbClr val="0C0F14"/>
          </a:solidFill>
          <a:ln/>
          <a:effectLst>
            <a:outerShdw blurRad="101600" dist="38100" dir="5400000" algn="bl" rotWithShape="0">
              <a:srgbClr val="000000">
                <a:alpha val="12000"/>
              </a:srgbClr>
            </a:outerShdw>
          </a:effectLst>
        </p:spPr>
      </p:sp>
      <p:pic>
        <p:nvPicPr>
          <p:cNvPr id="29" name="Image 0" descr="images/slide4_preprocessing.png"/>
          <p:cNvPicPr>
            <a:picLocks noChangeAspect="1"/>
          </p:cNvPicPr>
          <p:nvPr/>
        </p:nvPicPr>
        <p:blipFill>
          <a:blip r:embed="rId3"/>
          <a:srcRect/>
          <a:stretch/>
        </p:blipFill>
        <p:spPr>
          <a:xfrm>
            <a:off x="6812280" y="3886200"/>
            <a:ext cx="4526280" cy="1828800"/>
          </a:xfrm>
          <a:prstGeom prst="rect">
            <a:avLst/>
          </a:prstGeom>
        </p:spPr>
      </p:pic>
      <p:sp>
        <p:nvSpPr>
          <p:cNvPr id="30" name="Text 27"/>
          <p:cNvSpPr/>
          <p:nvPr/>
        </p:nvSpPr>
        <p:spPr>
          <a:xfrm>
            <a:off x="6537960" y="5806440"/>
            <a:ext cx="5074920" cy="228600"/>
          </a:xfrm>
          <a:prstGeom prst="rect">
            <a:avLst/>
          </a:prstGeom>
          <a:noFill/>
          <a:ln/>
        </p:spPr>
        <p:txBody>
          <a:bodyPr wrap="square" lIns="0" tIns="0" rIns="0" bIns="0" rtlCol="0" anchor="ctr"/>
          <a:lstStyle/>
          <a:p>
            <a:pPr marL="0" indent="0" algn="ctr">
              <a:buNone/>
            </a:pPr>
            <a:r>
              <a:rPr lang="en-US" sz="900" i="1" dirty="0">
                <a:solidFill>
                  <a:srgbClr val="5B6478"/>
                </a:solidFill>
                <a:latin typeface="Calibri" pitchFamily="34" charset="0"/>
                <a:ea typeface="Calibri" pitchFamily="34" charset="-122"/>
                <a:cs typeface="Calibri" pitchFamily="34" charset="-120"/>
              </a:rPr>
              <a:t>Notebook output — dataset summary after cleaning</a:t>
            </a:r>
            <a:endParaRPr lang="en-US" sz="900" dirty="0"/>
          </a:p>
        </p:txBody>
      </p:sp>
      <p:sp>
        <p:nvSpPr>
          <p:cNvPr id="31" name="Text 28"/>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32" name="Text 29"/>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ML PIPELINE · STEP 3</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Feature engineering — TF-IDF</a:t>
            </a:r>
            <a:endParaRPr lang="en-US" sz="3000" dirty="0"/>
          </a:p>
        </p:txBody>
      </p:sp>
      <p:sp>
        <p:nvSpPr>
          <p:cNvPr id="5" name="Shape 3"/>
          <p:cNvSpPr/>
          <p:nvPr/>
        </p:nvSpPr>
        <p:spPr>
          <a:xfrm>
            <a:off x="548640" y="1828800"/>
            <a:ext cx="5577840" cy="4206240"/>
          </a:xfrm>
          <a:prstGeom prst="roundRect">
            <a:avLst>
              <a:gd name="adj" fmla="val 2174"/>
            </a:avLst>
          </a:prstGeom>
          <a:solidFill>
            <a:srgbClr val="FFFFFF"/>
          </a:solidFill>
          <a:ln/>
          <a:effectLst>
            <a:outerShdw blurRad="101600" dist="38100" dir="5400000" algn="bl" rotWithShape="0">
              <a:srgbClr val="000000">
                <a:alpha val="12000"/>
              </a:srgbClr>
            </a:outerShdw>
          </a:effectLst>
        </p:spPr>
      </p:sp>
      <p:sp>
        <p:nvSpPr>
          <p:cNvPr id="6" name="Text 4"/>
          <p:cNvSpPr/>
          <p:nvPr/>
        </p:nvSpPr>
        <p:spPr>
          <a:xfrm>
            <a:off x="914400" y="2103120"/>
            <a:ext cx="4846320" cy="320040"/>
          </a:xfrm>
          <a:prstGeom prst="rect">
            <a:avLst/>
          </a:prstGeom>
          <a:noFill/>
          <a:ln/>
        </p:spPr>
        <p:txBody>
          <a:bodyPr wrap="square" lIns="0" tIns="0" rIns="0" bIns="0" rtlCol="0" anchor="ctr"/>
          <a:lstStyle/>
          <a:p>
            <a:pPr marL="0" indent="0">
              <a:buNone/>
            </a:pPr>
            <a:r>
              <a:rPr lang="en-US" sz="1200" b="1" kern="0" spc="100" dirty="0">
                <a:solidFill>
                  <a:srgbClr val="E25C45"/>
                </a:solidFill>
                <a:latin typeface="Calibri" pitchFamily="34" charset="0"/>
                <a:ea typeface="Calibri" pitchFamily="34" charset="-122"/>
                <a:cs typeface="Calibri" pitchFamily="34" charset="-120"/>
              </a:rPr>
              <a:t>THE CONCEPT</a:t>
            </a:r>
            <a:endParaRPr lang="en-US" sz="1200" dirty="0"/>
          </a:p>
        </p:txBody>
      </p:sp>
      <p:sp>
        <p:nvSpPr>
          <p:cNvPr id="7" name="Text 5"/>
          <p:cNvSpPr/>
          <p:nvPr/>
        </p:nvSpPr>
        <p:spPr>
          <a:xfrm>
            <a:off x="914400" y="2468880"/>
            <a:ext cx="4846320" cy="777240"/>
          </a:xfrm>
          <a:prstGeom prst="rect">
            <a:avLst/>
          </a:prstGeom>
          <a:noFill/>
          <a:ln/>
        </p:spPr>
        <p:txBody>
          <a:bodyPr wrap="square" lIns="0" tIns="0" rIns="0" bIns="0" rtlCol="0" anchor="t"/>
          <a:lstStyle/>
          <a:p>
            <a:pPr marL="0" indent="0">
              <a:buNone/>
            </a:pPr>
            <a:r>
              <a:rPr lang="en-US" sz="1400" dirty="0">
                <a:solidFill>
                  <a:srgbClr val="1B2A4A"/>
                </a:solidFill>
                <a:latin typeface="Calibri" pitchFamily="34" charset="0"/>
                <a:ea typeface="Calibri" pitchFamily="34" charset="-122"/>
                <a:cs typeface="Calibri" pitchFamily="34" charset="-120"/>
              </a:rPr>
              <a:t>TF-IDF (Term Frequency – Inverse Document Frequency) converts raw text into numeric vectors that a model can learn from.</a:t>
            </a:r>
            <a:endParaRPr lang="en-US" sz="1400" dirty="0"/>
          </a:p>
        </p:txBody>
      </p:sp>
      <p:sp>
        <p:nvSpPr>
          <p:cNvPr id="8" name="Text 6"/>
          <p:cNvSpPr/>
          <p:nvPr/>
        </p:nvSpPr>
        <p:spPr>
          <a:xfrm>
            <a:off x="914400" y="3337560"/>
            <a:ext cx="4846320" cy="25603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Term Frequency — how often a word appears in one article</a:t>
            </a:r>
            <a:endParaRPr lang="en-US" sz="1300" dirty="0"/>
          </a:p>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Inverse Document Frequency — how rare that word is across all articles</a:t>
            </a:r>
            <a:endParaRPr lang="en-US" sz="1300" dirty="0"/>
          </a:p>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Common words like “the” score low; distinctive words score high</a:t>
            </a:r>
            <a:endParaRPr lang="en-US" sz="1300" dirty="0"/>
          </a:p>
          <a:p>
            <a:pPr marL="342900" indent="-342900">
              <a:spcAft>
                <a:spcPts val="1000"/>
              </a:spcAft>
              <a:buSzPct val="100000"/>
              <a:buChar char="•"/>
            </a:pPr>
            <a:r>
              <a:rPr lang="en-US" sz="1300" dirty="0">
                <a:solidFill>
                  <a:srgbClr val="1B2A4A"/>
                </a:solidFill>
                <a:latin typeface="Calibri" pitchFamily="34" charset="0"/>
                <a:ea typeface="Calibri" pitchFamily="34" charset="-122"/>
                <a:cs typeface="Calibri" pitchFamily="34" charset="-120"/>
              </a:rPr>
              <a:t>Applied to the top 5,000 most informative words, English stop-words removed</a:t>
            </a:r>
            <a:endParaRPr lang="en-US" sz="1300" dirty="0"/>
          </a:p>
        </p:txBody>
      </p:sp>
      <p:sp>
        <p:nvSpPr>
          <p:cNvPr id="9" name="Shape 7"/>
          <p:cNvSpPr/>
          <p:nvPr/>
        </p:nvSpPr>
        <p:spPr>
          <a:xfrm>
            <a:off x="6400800" y="1828800"/>
            <a:ext cx="5212080" cy="2377440"/>
          </a:xfrm>
          <a:prstGeom prst="roundRect">
            <a:avLst>
              <a:gd name="adj" fmla="val 3077"/>
            </a:avLst>
          </a:prstGeom>
          <a:solidFill>
            <a:srgbClr val="0C0F14"/>
          </a:solidFill>
          <a:ln/>
          <a:effectLst>
            <a:outerShdw blurRad="101600" dist="38100" dir="5400000" algn="bl" rotWithShape="0">
              <a:srgbClr val="000000">
                <a:alpha val="12000"/>
              </a:srgbClr>
            </a:outerShdw>
          </a:effectLst>
        </p:spPr>
      </p:sp>
      <p:pic>
        <p:nvPicPr>
          <p:cNvPr id="10" name="Image 0" descr="images/slide5_feature_eng.png"/>
          <p:cNvPicPr>
            <a:picLocks noChangeAspect="1"/>
          </p:cNvPicPr>
          <p:nvPr/>
        </p:nvPicPr>
        <p:blipFill>
          <a:blip r:embed="rId3"/>
          <a:srcRect/>
          <a:stretch/>
        </p:blipFill>
        <p:spPr>
          <a:xfrm>
            <a:off x="6675120" y="2103120"/>
            <a:ext cx="4663440" cy="1828800"/>
          </a:xfrm>
          <a:prstGeom prst="rect">
            <a:avLst/>
          </a:prstGeom>
        </p:spPr>
      </p:pic>
      <p:sp>
        <p:nvSpPr>
          <p:cNvPr id="11" name="Shape 8"/>
          <p:cNvSpPr/>
          <p:nvPr/>
        </p:nvSpPr>
        <p:spPr>
          <a:xfrm>
            <a:off x="6400800" y="4434840"/>
            <a:ext cx="2468880" cy="1600200"/>
          </a:xfrm>
          <a:prstGeom prst="roundRect">
            <a:avLst>
              <a:gd name="adj" fmla="val 5714"/>
            </a:avLst>
          </a:prstGeom>
          <a:solidFill>
            <a:srgbClr val="E25C45"/>
          </a:solidFill>
          <a:ln/>
        </p:spPr>
      </p:sp>
      <p:sp>
        <p:nvSpPr>
          <p:cNvPr id="12" name="Text 9"/>
          <p:cNvSpPr/>
          <p:nvPr/>
        </p:nvSpPr>
        <p:spPr>
          <a:xfrm>
            <a:off x="6400800" y="4709160"/>
            <a:ext cx="2468880" cy="5943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5,000</a:t>
            </a:r>
            <a:endParaRPr lang="en-US" sz="2600" dirty="0"/>
          </a:p>
        </p:txBody>
      </p:sp>
      <p:sp>
        <p:nvSpPr>
          <p:cNvPr id="13" name="Text 10"/>
          <p:cNvSpPr/>
          <p:nvPr/>
        </p:nvSpPr>
        <p:spPr>
          <a:xfrm>
            <a:off x="6400800" y="5349240"/>
            <a:ext cx="2468880" cy="457200"/>
          </a:xfrm>
          <a:prstGeom prst="rect">
            <a:avLst/>
          </a:prstGeom>
          <a:noFill/>
          <a:ln/>
        </p:spPr>
        <p:txBody>
          <a:bodyPr wrap="square" lIns="0" tIns="0" rIns="0" bIns="0" rtlCol="0" anchor="ctr"/>
          <a:lstStyle/>
          <a:p>
            <a:pPr marL="0" indent="0" algn="ctr">
              <a:buNone/>
            </a:pPr>
            <a:r>
              <a:rPr lang="en-US" sz="1100" dirty="0">
                <a:solidFill>
                  <a:srgbClr val="E8EDF7"/>
                </a:solidFill>
                <a:latin typeface="Calibri" pitchFamily="34" charset="0"/>
                <a:ea typeface="Calibri" pitchFamily="34" charset="-122"/>
                <a:cs typeface="Calibri" pitchFamily="34" charset="-120"/>
              </a:rPr>
              <a:t>TF-IDF features</a:t>
            </a:r>
            <a:endParaRPr lang="en-US" sz="1100" dirty="0"/>
          </a:p>
        </p:txBody>
      </p:sp>
      <p:sp>
        <p:nvSpPr>
          <p:cNvPr id="14" name="Shape 11"/>
          <p:cNvSpPr/>
          <p:nvPr/>
        </p:nvSpPr>
        <p:spPr>
          <a:xfrm>
            <a:off x="9098280" y="4434840"/>
            <a:ext cx="2468880" cy="1600200"/>
          </a:xfrm>
          <a:prstGeom prst="roundRect">
            <a:avLst>
              <a:gd name="adj" fmla="val 5714"/>
            </a:avLst>
          </a:prstGeom>
          <a:solidFill>
            <a:srgbClr val="1B2A4A"/>
          </a:solidFill>
          <a:ln/>
        </p:spPr>
      </p:sp>
      <p:sp>
        <p:nvSpPr>
          <p:cNvPr id="15" name="Text 12"/>
          <p:cNvSpPr/>
          <p:nvPr/>
        </p:nvSpPr>
        <p:spPr>
          <a:xfrm>
            <a:off x="9098280" y="4709160"/>
            <a:ext cx="2468880" cy="5943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80 / 20</a:t>
            </a:r>
            <a:endParaRPr lang="en-US" sz="2600" dirty="0"/>
          </a:p>
        </p:txBody>
      </p:sp>
      <p:sp>
        <p:nvSpPr>
          <p:cNvPr id="16" name="Text 13"/>
          <p:cNvSpPr/>
          <p:nvPr/>
        </p:nvSpPr>
        <p:spPr>
          <a:xfrm>
            <a:off x="9098280" y="5349240"/>
            <a:ext cx="2468880" cy="457200"/>
          </a:xfrm>
          <a:prstGeom prst="rect">
            <a:avLst/>
          </a:prstGeom>
          <a:noFill/>
          <a:ln/>
        </p:spPr>
        <p:txBody>
          <a:bodyPr wrap="square" lIns="0" tIns="0" rIns="0" bIns="0" rtlCol="0" anchor="ctr"/>
          <a:lstStyle/>
          <a:p>
            <a:pPr marL="0" indent="0" algn="ctr">
              <a:buNone/>
            </a:pPr>
            <a:r>
              <a:rPr lang="en-US" sz="1100" dirty="0">
                <a:solidFill>
                  <a:srgbClr val="E8EDF7"/>
                </a:solidFill>
                <a:latin typeface="Calibri" pitchFamily="34" charset="0"/>
                <a:ea typeface="Calibri" pitchFamily="34" charset="-122"/>
                <a:cs typeface="Calibri" pitchFamily="34" charset="-120"/>
              </a:rPr>
              <a:t>Train / test split</a:t>
            </a:r>
            <a:endParaRPr lang="en-US" sz="1100" dirty="0"/>
          </a:p>
        </p:txBody>
      </p:sp>
      <p:sp>
        <p:nvSpPr>
          <p:cNvPr id="17" name="Text 14"/>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8" name="Text 15"/>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ML PIPELINE · STEPS 4-5</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Train-test split &amp; model training</a:t>
            </a:r>
            <a:endParaRPr lang="en-US" sz="2800" dirty="0"/>
          </a:p>
        </p:txBody>
      </p:sp>
      <p:sp>
        <p:nvSpPr>
          <p:cNvPr id="5" name="Text 3"/>
          <p:cNvSpPr/>
          <p:nvPr/>
        </p:nvSpPr>
        <p:spPr>
          <a:xfrm>
            <a:off x="548640" y="1691640"/>
            <a:ext cx="10515600" cy="457200"/>
          </a:xfrm>
          <a:prstGeom prst="rect">
            <a:avLst/>
          </a:prstGeom>
          <a:noFill/>
          <a:ln/>
        </p:spPr>
        <p:txBody>
          <a:bodyPr wrap="square" lIns="0" tIns="0" rIns="0" bIns="0" rtlCol="0" anchor="ctr"/>
          <a:lstStyle/>
          <a:p>
            <a:pPr marL="0" indent="0">
              <a:buNone/>
            </a:pPr>
            <a:r>
              <a:rPr lang="en-US" sz="1300" dirty="0">
                <a:solidFill>
                  <a:srgbClr val="5B6478"/>
                </a:solidFill>
                <a:latin typeface="Calibri" pitchFamily="34" charset="0"/>
                <a:ea typeface="Calibri" pitchFamily="34" charset="-122"/>
                <a:cs typeface="Calibri" pitchFamily="34" charset="-120"/>
              </a:rPr>
              <a:t>Three algorithms were trained on the same TF-IDF features and compared head-to-head, so the final model choice is evidence-based rather than assumed.</a:t>
            </a:r>
            <a:endParaRPr lang="en-US" sz="1300" dirty="0"/>
          </a:p>
        </p:txBody>
      </p:sp>
      <p:sp>
        <p:nvSpPr>
          <p:cNvPr id="6" name="Shape 4"/>
          <p:cNvSpPr/>
          <p:nvPr/>
        </p:nvSpPr>
        <p:spPr>
          <a:xfrm>
            <a:off x="548640" y="2331720"/>
            <a:ext cx="3474720" cy="1828800"/>
          </a:xfrm>
          <a:prstGeom prst="roundRect">
            <a:avLst>
              <a:gd name="adj" fmla="val 5000"/>
            </a:avLst>
          </a:prstGeom>
          <a:solidFill>
            <a:srgbClr val="1B2A4A"/>
          </a:solidFill>
          <a:ln/>
          <a:effectLst>
            <a:outerShdw blurRad="101600" dist="38100" dir="5400000" algn="bl" rotWithShape="0">
              <a:srgbClr val="000000">
                <a:alpha val="12000"/>
              </a:srgbClr>
            </a:outerShdw>
          </a:effectLst>
        </p:spPr>
      </p:sp>
      <p:sp>
        <p:nvSpPr>
          <p:cNvPr id="7" name="Text 5"/>
          <p:cNvSpPr/>
          <p:nvPr/>
        </p:nvSpPr>
        <p:spPr>
          <a:xfrm>
            <a:off x="777240" y="2468880"/>
            <a:ext cx="21945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Logistic Regression</a:t>
            </a:r>
            <a:endParaRPr lang="en-US" sz="1400" dirty="0"/>
          </a:p>
        </p:txBody>
      </p:sp>
      <p:sp>
        <p:nvSpPr>
          <p:cNvPr id="8" name="Text 6"/>
          <p:cNvSpPr/>
          <p:nvPr/>
        </p:nvSpPr>
        <p:spPr>
          <a:xfrm>
            <a:off x="777240" y="2971800"/>
            <a:ext cx="301752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98.67%</a:t>
            </a:r>
            <a:endParaRPr lang="en-US" sz="3200" dirty="0"/>
          </a:p>
        </p:txBody>
      </p:sp>
      <p:sp>
        <p:nvSpPr>
          <p:cNvPr id="9" name="Text 7"/>
          <p:cNvSpPr/>
          <p:nvPr/>
        </p:nvSpPr>
        <p:spPr>
          <a:xfrm>
            <a:off x="777240" y="3657600"/>
            <a:ext cx="3017520" cy="320040"/>
          </a:xfrm>
          <a:prstGeom prst="rect">
            <a:avLst/>
          </a:prstGeom>
          <a:noFill/>
          <a:ln/>
        </p:spPr>
        <p:txBody>
          <a:bodyPr wrap="square" lIns="0" tIns="0" rIns="0" bIns="0" rtlCol="0" anchor="ctr"/>
          <a:lstStyle/>
          <a:p>
            <a:pPr marL="0" indent="0">
              <a:buNone/>
            </a:pPr>
            <a:r>
              <a:rPr lang="en-US" sz="1100" dirty="0">
                <a:solidFill>
                  <a:srgbClr val="E8EDF7"/>
                </a:solidFill>
                <a:latin typeface="Calibri" pitchFamily="34" charset="0"/>
                <a:ea typeface="Calibri" pitchFamily="34" charset="-122"/>
                <a:cs typeface="Calibri" pitchFamily="34" charset="-120"/>
              </a:rPr>
              <a:t>trained in 0.37s</a:t>
            </a:r>
            <a:endParaRPr lang="en-US" sz="1100" dirty="0"/>
          </a:p>
        </p:txBody>
      </p:sp>
      <p:sp>
        <p:nvSpPr>
          <p:cNvPr id="10" name="Shape 8"/>
          <p:cNvSpPr/>
          <p:nvPr/>
        </p:nvSpPr>
        <p:spPr>
          <a:xfrm>
            <a:off x="4251960" y="2331720"/>
            <a:ext cx="3474720" cy="1828800"/>
          </a:xfrm>
          <a:prstGeom prst="roundRect">
            <a:avLst>
              <a:gd name="adj" fmla="val 5000"/>
            </a:avLst>
          </a:prstGeom>
          <a:solidFill>
            <a:srgbClr val="1B2A4A"/>
          </a:solidFill>
          <a:ln/>
          <a:effectLst>
            <a:outerShdw blurRad="101600" dist="38100" dir="5400000" algn="bl" rotWithShape="0">
              <a:srgbClr val="000000">
                <a:alpha val="12000"/>
              </a:srgbClr>
            </a:outerShdw>
          </a:effectLst>
        </p:spPr>
      </p:sp>
      <p:sp>
        <p:nvSpPr>
          <p:cNvPr id="11" name="Text 9"/>
          <p:cNvSpPr/>
          <p:nvPr/>
        </p:nvSpPr>
        <p:spPr>
          <a:xfrm>
            <a:off x="4480560" y="2468880"/>
            <a:ext cx="21945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Naive Bayes</a:t>
            </a:r>
            <a:endParaRPr lang="en-US" sz="1400" dirty="0"/>
          </a:p>
        </p:txBody>
      </p:sp>
      <p:sp>
        <p:nvSpPr>
          <p:cNvPr id="12" name="Text 10"/>
          <p:cNvSpPr/>
          <p:nvPr/>
        </p:nvSpPr>
        <p:spPr>
          <a:xfrm>
            <a:off x="4480560" y="2971800"/>
            <a:ext cx="301752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92.88%</a:t>
            </a:r>
            <a:endParaRPr lang="en-US" sz="3200" dirty="0"/>
          </a:p>
        </p:txBody>
      </p:sp>
      <p:sp>
        <p:nvSpPr>
          <p:cNvPr id="13" name="Text 11"/>
          <p:cNvSpPr/>
          <p:nvPr/>
        </p:nvSpPr>
        <p:spPr>
          <a:xfrm>
            <a:off x="4480560" y="3657600"/>
            <a:ext cx="3017520" cy="320040"/>
          </a:xfrm>
          <a:prstGeom prst="rect">
            <a:avLst/>
          </a:prstGeom>
          <a:noFill/>
          <a:ln/>
        </p:spPr>
        <p:txBody>
          <a:bodyPr wrap="square" lIns="0" tIns="0" rIns="0" bIns="0" rtlCol="0" anchor="ctr"/>
          <a:lstStyle/>
          <a:p>
            <a:pPr marL="0" indent="0">
              <a:buNone/>
            </a:pPr>
            <a:r>
              <a:rPr lang="en-US" sz="1100" dirty="0">
                <a:solidFill>
                  <a:srgbClr val="E8EDF7"/>
                </a:solidFill>
                <a:latin typeface="Calibri" pitchFamily="34" charset="0"/>
                <a:ea typeface="Calibri" pitchFamily="34" charset="-122"/>
                <a:cs typeface="Calibri" pitchFamily="34" charset="-120"/>
              </a:rPr>
              <a:t>trained in 0.04s</a:t>
            </a:r>
            <a:endParaRPr lang="en-US" sz="1100" dirty="0"/>
          </a:p>
        </p:txBody>
      </p:sp>
      <p:sp>
        <p:nvSpPr>
          <p:cNvPr id="14" name="Shape 12"/>
          <p:cNvSpPr/>
          <p:nvPr/>
        </p:nvSpPr>
        <p:spPr>
          <a:xfrm>
            <a:off x="7955280" y="2331720"/>
            <a:ext cx="3474720" cy="1828800"/>
          </a:xfrm>
          <a:prstGeom prst="roundRect">
            <a:avLst>
              <a:gd name="adj" fmla="val 5000"/>
            </a:avLst>
          </a:prstGeom>
          <a:solidFill>
            <a:srgbClr val="E25C45"/>
          </a:solidFill>
          <a:ln/>
          <a:effectLst>
            <a:outerShdw blurRad="101600" dist="38100" dir="5400000" algn="bl" rotWithShape="0">
              <a:srgbClr val="000000">
                <a:alpha val="12000"/>
              </a:srgbClr>
            </a:outerShdw>
          </a:effectLst>
        </p:spPr>
      </p:sp>
      <p:sp>
        <p:nvSpPr>
          <p:cNvPr id="15" name="Shape 13"/>
          <p:cNvSpPr/>
          <p:nvPr/>
        </p:nvSpPr>
        <p:spPr>
          <a:xfrm>
            <a:off x="10378440" y="2468880"/>
            <a:ext cx="914400" cy="292608"/>
          </a:xfrm>
          <a:prstGeom prst="roundRect">
            <a:avLst>
              <a:gd name="adj" fmla="val 18750"/>
            </a:avLst>
          </a:prstGeom>
          <a:solidFill>
            <a:srgbClr val="1E8E5A"/>
          </a:solidFill>
          <a:ln/>
        </p:spPr>
      </p:sp>
      <p:sp>
        <p:nvSpPr>
          <p:cNvPr id="16" name="Text 14"/>
          <p:cNvSpPr/>
          <p:nvPr/>
        </p:nvSpPr>
        <p:spPr>
          <a:xfrm>
            <a:off x="10378440" y="2468880"/>
            <a:ext cx="914400" cy="292608"/>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BEST</a:t>
            </a:r>
            <a:endParaRPr lang="en-US" sz="900" dirty="0"/>
          </a:p>
        </p:txBody>
      </p:sp>
      <p:sp>
        <p:nvSpPr>
          <p:cNvPr id="17" name="Text 15"/>
          <p:cNvSpPr/>
          <p:nvPr/>
        </p:nvSpPr>
        <p:spPr>
          <a:xfrm>
            <a:off x="8183880" y="2468880"/>
            <a:ext cx="21945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SVM</a:t>
            </a:r>
            <a:endParaRPr lang="en-US" sz="1400" dirty="0"/>
          </a:p>
        </p:txBody>
      </p:sp>
      <p:sp>
        <p:nvSpPr>
          <p:cNvPr id="18" name="Text 16"/>
          <p:cNvSpPr/>
          <p:nvPr/>
        </p:nvSpPr>
        <p:spPr>
          <a:xfrm>
            <a:off x="8183880" y="2971800"/>
            <a:ext cx="301752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99.33%</a:t>
            </a:r>
            <a:endParaRPr lang="en-US" sz="3200" dirty="0"/>
          </a:p>
        </p:txBody>
      </p:sp>
      <p:sp>
        <p:nvSpPr>
          <p:cNvPr id="19" name="Text 17"/>
          <p:cNvSpPr/>
          <p:nvPr/>
        </p:nvSpPr>
        <p:spPr>
          <a:xfrm>
            <a:off x="8183880" y="3657600"/>
            <a:ext cx="3017520" cy="320040"/>
          </a:xfrm>
          <a:prstGeom prst="rect">
            <a:avLst/>
          </a:prstGeom>
          <a:noFill/>
          <a:ln/>
        </p:spPr>
        <p:txBody>
          <a:bodyPr wrap="square" lIns="0" tIns="0" rIns="0" bIns="0" rtlCol="0" anchor="ctr"/>
          <a:lstStyle/>
          <a:p>
            <a:pPr marL="0" indent="0">
              <a:buNone/>
            </a:pPr>
            <a:r>
              <a:rPr lang="en-US" sz="1100" dirty="0">
                <a:solidFill>
                  <a:srgbClr val="E8EDF7"/>
                </a:solidFill>
                <a:latin typeface="Calibri" pitchFamily="34" charset="0"/>
                <a:ea typeface="Calibri" pitchFamily="34" charset="-122"/>
                <a:cs typeface="Calibri" pitchFamily="34" charset="-120"/>
              </a:rPr>
              <a:t>trained in 0.74s</a:t>
            </a:r>
            <a:endParaRPr lang="en-US" sz="1100" dirty="0"/>
          </a:p>
        </p:txBody>
      </p:sp>
      <p:sp>
        <p:nvSpPr>
          <p:cNvPr id="20" name="Text 18"/>
          <p:cNvSpPr/>
          <p:nvPr/>
        </p:nvSpPr>
        <p:spPr>
          <a:xfrm>
            <a:off x="548640" y="4279392"/>
            <a:ext cx="11064240" cy="36576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Why these three: </a:t>
            </a:r>
            <a:r>
              <a:rPr lang="en-US" sz="1150" dirty="0">
                <a:solidFill>
                  <a:srgbClr val="5B6478"/>
                </a:solidFill>
                <a:latin typeface="Calibri" pitchFamily="34" charset="0"/>
                <a:ea typeface="Calibri" pitchFamily="34" charset="-122"/>
                <a:cs typeface="Calibri" pitchFamily="34" charset="-120"/>
              </a:rPr>
              <a:t>chosen as standard text-classification baselines spanning simple to complex — Naive Bayes (probabilistic), Logistic Regression (linear), SVM (margin-based) — rather than jumping straight to deep learning.</a:t>
            </a:r>
            <a:endParaRPr lang="en-US" sz="1150" dirty="0"/>
          </a:p>
        </p:txBody>
      </p:sp>
      <p:sp>
        <p:nvSpPr>
          <p:cNvPr id="21" name="Shape 19"/>
          <p:cNvSpPr/>
          <p:nvPr/>
        </p:nvSpPr>
        <p:spPr>
          <a:xfrm>
            <a:off x="548640" y="4736592"/>
            <a:ext cx="11064240" cy="1417320"/>
          </a:xfrm>
          <a:prstGeom prst="roundRect">
            <a:avLst>
              <a:gd name="adj" fmla="val 5161"/>
            </a:avLst>
          </a:prstGeom>
          <a:solidFill>
            <a:srgbClr val="0C0F14"/>
          </a:solidFill>
          <a:ln/>
          <a:effectLst>
            <a:outerShdw blurRad="101600" dist="38100" dir="5400000" algn="bl" rotWithShape="0">
              <a:srgbClr val="000000">
                <a:alpha val="12000"/>
              </a:srgbClr>
            </a:outerShdw>
          </a:effectLst>
        </p:spPr>
      </p:sp>
      <p:pic>
        <p:nvPicPr>
          <p:cNvPr id="22" name="Image 0" descr="images/slide6_training.png"/>
          <p:cNvPicPr>
            <a:picLocks noChangeAspect="1"/>
          </p:cNvPicPr>
          <p:nvPr/>
        </p:nvPicPr>
        <p:blipFill>
          <a:blip r:embed="rId3"/>
          <a:srcRect/>
          <a:stretch/>
        </p:blipFill>
        <p:spPr>
          <a:xfrm>
            <a:off x="2926080" y="4882896"/>
            <a:ext cx="6309360" cy="1143000"/>
          </a:xfrm>
          <a:prstGeom prst="rect">
            <a:avLst/>
          </a:prstGeom>
        </p:spPr>
      </p:pic>
      <p:sp>
        <p:nvSpPr>
          <p:cNvPr id="23" name="Text 20"/>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24" name="Text 21"/>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ML PIPELINE · STEP 6</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Model evaluation</a:t>
            </a:r>
            <a:endParaRPr lang="en-US" sz="3000" dirty="0"/>
          </a:p>
        </p:txBody>
      </p:sp>
      <p:sp>
        <p:nvSpPr>
          <p:cNvPr id="5" name="Text 3"/>
          <p:cNvSpPr/>
          <p:nvPr/>
        </p:nvSpPr>
        <p:spPr>
          <a:xfrm>
            <a:off x="548640" y="1645920"/>
            <a:ext cx="10515600" cy="365760"/>
          </a:xfrm>
          <a:prstGeom prst="rect">
            <a:avLst/>
          </a:prstGeom>
          <a:noFill/>
          <a:ln/>
        </p:spPr>
        <p:txBody>
          <a:bodyPr wrap="square" lIns="0" tIns="0" rIns="0" bIns="0" rtlCol="0" anchor="ctr"/>
          <a:lstStyle/>
          <a:p>
            <a:pPr marL="0" indent="0">
              <a:buNone/>
            </a:pPr>
            <a:r>
              <a:rPr lang="en-US" sz="1300" dirty="0">
                <a:solidFill>
                  <a:srgbClr val="5B6478"/>
                </a:solidFill>
                <a:latin typeface="Calibri" pitchFamily="34" charset="0"/>
                <a:ea typeface="Calibri" pitchFamily="34" charset="-122"/>
                <a:cs typeface="Calibri" pitchFamily="34" charset="-120"/>
              </a:rPr>
              <a:t>Four metrics across all three models — accuracy alone can hide weaknesses that precision, recall, and F1 reveal.</a:t>
            </a:r>
            <a:endParaRPr lang="en-US" sz="1300" dirty="0"/>
          </a:p>
        </p:txBody>
      </p:sp>
      <p:sp>
        <p:nvSpPr>
          <p:cNvPr id="6" name="Shape 4"/>
          <p:cNvSpPr/>
          <p:nvPr/>
        </p:nvSpPr>
        <p:spPr>
          <a:xfrm>
            <a:off x="548640" y="2057400"/>
            <a:ext cx="11064240" cy="2148840"/>
          </a:xfrm>
          <a:prstGeom prst="roundRect">
            <a:avLst>
              <a:gd name="adj" fmla="val 3404"/>
            </a:avLst>
          </a:prstGeom>
          <a:solidFill>
            <a:srgbClr val="FFFFFF"/>
          </a:solidFill>
          <a:ln/>
          <a:effectLst>
            <a:outerShdw blurRad="101600" dist="38100" dir="5400000" algn="bl" rotWithShape="0">
              <a:srgbClr val="000000">
                <a:alpha val="12000"/>
              </a:srgbClr>
            </a:outerShdw>
          </a:effectLst>
        </p:spPr>
      </p:sp>
      <p:graphicFrame>
        <p:nvGraphicFramePr>
          <p:cNvPr id="8" name="Table 0"/>
          <p:cNvGraphicFramePr>
            <a:graphicFrameLocks noGrp="1"/>
          </p:cNvGraphicFramePr>
          <p:nvPr>
            <p:extLst>
              <p:ext uri="{D42A27DB-BD31-4B8C-83A1-F6EECF244321}">
                <p14:modId xmlns:p14="http://schemas.microsoft.com/office/powerpoint/2010/main" val="2520873714"/>
              </p:ext>
            </p:extLst>
          </p:nvPr>
        </p:nvGraphicFramePr>
        <p:xfrm>
          <a:off x="548640" y="2062064"/>
          <a:ext cx="11064240" cy="2144176"/>
        </p:xfrm>
        <a:graphic>
          <a:graphicData uri="http://schemas.openxmlformats.org/drawingml/2006/table">
            <a:tbl>
              <a:tblPr/>
              <a:tblGrid>
                <a:gridCol w="33832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79176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F1-Score</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0804">
                <a:tc>
                  <a:txBody>
                    <a:bodyPr/>
                    <a:lstStyle/>
                    <a:p>
                      <a:pPr marL="0" indent="0" algn="l">
                        <a:buNone/>
                      </a:pPr>
                      <a:r>
                        <a:rPr lang="en-US" sz="1300" dirty="0">
                          <a:solidFill>
                            <a:srgbClr val="1B2A4A"/>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98.67%</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98.26%</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98.97%</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98.61%</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0804">
                <a:tc>
                  <a:txBody>
                    <a:bodyPr/>
                    <a:lstStyle/>
                    <a:p>
                      <a:pPr marL="0" indent="0" algn="l">
                        <a:buNone/>
                      </a:pPr>
                      <a:r>
                        <a:rPr lang="en-US" sz="1300" dirty="0">
                          <a:solidFill>
                            <a:srgbClr val="1B2A4A"/>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92.88%</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92.83%</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92.15%</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tc>
                  <a:txBody>
                    <a:bodyPr/>
                    <a:lstStyle/>
                    <a:p>
                      <a:pPr marL="0" indent="0" algn="ctr">
                        <a:buNone/>
                      </a:pPr>
                      <a:r>
                        <a:rPr lang="en-US" sz="1300" dirty="0">
                          <a:solidFill>
                            <a:srgbClr val="1B2A4A"/>
                          </a:solidFill>
                          <a:latin typeface="Calibri" pitchFamily="34" charset="0"/>
                          <a:ea typeface="Calibri" pitchFamily="34" charset="-122"/>
                          <a:cs typeface="Calibri" pitchFamily="34" charset="-120"/>
                        </a:rPr>
                        <a:t>92.49%</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F0EDE5"/>
                    </a:solidFill>
                  </a:tcPr>
                </a:tc>
                <a:extLst>
                  <a:ext uri="{0D108BD9-81ED-4DB2-BD59-A6C34878D82A}">
                    <a16:rowId xmlns:a16="http://schemas.microsoft.com/office/drawing/2014/main" val="10002"/>
                  </a:ext>
                </a:extLst>
              </a:tr>
              <a:tr h="45080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SVM  ★ Best</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99.33%</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99.27%</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99.32%</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99.30%</a:t>
                      </a:r>
                      <a:endParaRPr lang="en-US" sz="1300" dirty="0">
                        <a:latin typeface="Calibri" charset="0"/>
                        <a:ea typeface="Calibri" charset="0"/>
                        <a:cs typeface="Calibri" charset="0"/>
                      </a:endParaRPr>
                    </a:p>
                  </a:txBody>
                  <a:tcPr anchor="ctr">
                    <a:lnL w="9525" cap="flat" cmpd="sng" algn="ctr">
                      <a:solidFill>
                        <a:srgbClr val="E0DCD0"/>
                      </a:solidFill>
                      <a:prstDash val="solid"/>
                      <a:round/>
                      <a:headEnd type="none" w="med" len="med"/>
                      <a:tailEnd type="none" w="med" len="med"/>
                    </a:lnL>
                    <a:lnR w="9525" cap="flat" cmpd="sng" algn="ctr">
                      <a:solidFill>
                        <a:srgbClr val="E0DCD0"/>
                      </a:solidFill>
                      <a:prstDash val="solid"/>
                      <a:round/>
                      <a:headEnd type="none" w="med" len="med"/>
                      <a:tailEnd type="none" w="med" len="med"/>
                    </a:lnR>
                    <a:lnT w="9525" cap="flat" cmpd="sng" algn="ctr">
                      <a:solidFill>
                        <a:srgbClr val="E0DCD0"/>
                      </a:solidFill>
                      <a:prstDash val="solid"/>
                      <a:round/>
                      <a:headEnd type="none" w="med" len="med"/>
                      <a:tailEnd type="none" w="med" len="med"/>
                    </a:lnT>
                    <a:lnB w="9525" cap="flat" cmpd="sng" algn="ctr">
                      <a:solidFill>
                        <a:srgbClr val="E0DCD0"/>
                      </a:solidFill>
                      <a:prstDash val="solid"/>
                      <a:round/>
                      <a:headEnd type="none" w="med" len="med"/>
                      <a:tailEnd type="none" w="med" len="med"/>
                    </a:lnB>
                    <a:solidFill>
                      <a:srgbClr val="E25C45"/>
                    </a:solidFill>
                  </a:tcPr>
                </a:tc>
                <a:extLst>
                  <a:ext uri="{0D108BD9-81ED-4DB2-BD59-A6C34878D82A}">
                    <a16:rowId xmlns:a16="http://schemas.microsoft.com/office/drawing/2014/main" val="10003"/>
                  </a:ext>
                </a:extLst>
              </a:tr>
            </a:tbl>
          </a:graphicData>
        </a:graphic>
      </p:graphicFrame>
      <p:sp>
        <p:nvSpPr>
          <p:cNvPr id="9" name="Text 5"/>
          <p:cNvSpPr/>
          <p:nvPr/>
        </p:nvSpPr>
        <p:spPr>
          <a:xfrm>
            <a:off x="548640" y="4341534"/>
            <a:ext cx="11064240" cy="678335"/>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Why SVM wins: </a:t>
            </a:r>
            <a:r>
              <a:rPr lang="en-US" sz="1150" dirty="0">
                <a:solidFill>
                  <a:srgbClr val="5B6478"/>
                </a:solidFill>
                <a:latin typeface="Calibri" pitchFamily="34" charset="0"/>
                <a:ea typeface="Calibri" pitchFamily="34" charset="-122"/>
                <a:cs typeface="Calibri" pitchFamily="34" charset="-120"/>
              </a:rPr>
              <a:t>it finds the optimal separating boundary in high-dimensional TF-IDF space, which suits sparse text features better than Naive Bayes' word-independence assumption.</a:t>
            </a:r>
            <a:endParaRPr lang="en-US" sz="1150" dirty="0"/>
          </a:p>
        </p:txBody>
      </p:sp>
      <p:sp>
        <p:nvSpPr>
          <p:cNvPr id="10" name="Text 6"/>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1" name="Text 7"/>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ML PIPELINE · STEPS 7-8</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Model serialization &amp; deployment</a:t>
            </a:r>
            <a:endParaRPr lang="en-US" sz="2800" dirty="0"/>
          </a:p>
        </p:txBody>
      </p:sp>
      <p:sp>
        <p:nvSpPr>
          <p:cNvPr id="5" name="Shape 3"/>
          <p:cNvSpPr/>
          <p:nvPr/>
        </p:nvSpPr>
        <p:spPr>
          <a:xfrm>
            <a:off x="548640" y="1828800"/>
            <a:ext cx="5394960" cy="4206240"/>
          </a:xfrm>
          <a:prstGeom prst="roundRect">
            <a:avLst>
              <a:gd name="adj" fmla="val 2174"/>
            </a:avLst>
          </a:prstGeom>
          <a:solidFill>
            <a:srgbClr val="FFFFFF"/>
          </a:solidFill>
          <a:ln/>
          <a:effectLst>
            <a:outerShdw blurRad="101600" dist="38100" dir="5400000" algn="bl" rotWithShape="0">
              <a:srgbClr val="000000">
                <a:alpha val="12000"/>
              </a:srgbClr>
            </a:outerShdw>
          </a:effectLst>
        </p:spPr>
      </p:sp>
      <p:sp>
        <p:nvSpPr>
          <p:cNvPr id="6" name="Text 4"/>
          <p:cNvSpPr/>
          <p:nvPr/>
        </p:nvSpPr>
        <p:spPr>
          <a:xfrm>
            <a:off x="914400" y="2103120"/>
            <a:ext cx="4663440" cy="320040"/>
          </a:xfrm>
          <a:prstGeom prst="rect">
            <a:avLst/>
          </a:prstGeom>
          <a:noFill/>
          <a:ln/>
        </p:spPr>
        <p:txBody>
          <a:bodyPr wrap="square" lIns="0" tIns="0" rIns="0" bIns="0" rtlCol="0" anchor="ctr"/>
          <a:lstStyle/>
          <a:p>
            <a:pPr marL="0" indent="0">
              <a:buNone/>
            </a:pPr>
            <a:r>
              <a:rPr lang="en-US" sz="1200" b="1" kern="0" spc="100" dirty="0">
                <a:solidFill>
                  <a:srgbClr val="E25C45"/>
                </a:solidFill>
                <a:latin typeface="Calibri" pitchFamily="34" charset="0"/>
                <a:ea typeface="Calibri" pitchFamily="34" charset="-122"/>
                <a:cs typeface="Calibri" pitchFamily="34" charset="-120"/>
              </a:rPr>
              <a:t>SERIALIZATION</a:t>
            </a:r>
            <a:endParaRPr lang="en-US" sz="1200" dirty="0"/>
          </a:p>
        </p:txBody>
      </p:sp>
      <p:sp>
        <p:nvSpPr>
          <p:cNvPr id="7" name="Text 5"/>
          <p:cNvSpPr/>
          <p:nvPr/>
        </p:nvSpPr>
        <p:spPr>
          <a:xfrm>
            <a:off x="914400" y="2468880"/>
            <a:ext cx="4663440" cy="731520"/>
          </a:xfrm>
          <a:prstGeom prst="rect">
            <a:avLst/>
          </a:prstGeom>
          <a:noFill/>
          <a:ln/>
        </p:spPr>
        <p:txBody>
          <a:bodyPr wrap="square" lIns="0" tIns="0" rIns="0" bIns="0" rtlCol="0" anchor="t"/>
          <a:lstStyle/>
          <a:p>
            <a:pPr marL="0" indent="0">
              <a:buNone/>
            </a:pPr>
            <a:r>
              <a:rPr lang="en-US" sz="1300" dirty="0">
                <a:solidFill>
                  <a:srgbClr val="1B2A4A"/>
                </a:solidFill>
                <a:latin typeface="Calibri" pitchFamily="34" charset="0"/>
                <a:ea typeface="Calibri" pitchFamily="34" charset="-122"/>
                <a:cs typeface="Calibri" pitchFamily="34" charset="-120"/>
              </a:rPr>
              <a:t>The trained model and TF-IDF vectorizer are saved to disk using joblib as model.pkl and vectorizer.pkl.</a:t>
            </a:r>
            <a:endParaRPr lang="en-US" sz="1300" dirty="0"/>
          </a:p>
        </p:txBody>
      </p:sp>
      <p:sp>
        <p:nvSpPr>
          <p:cNvPr id="8" name="Text 6"/>
          <p:cNvSpPr/>
          <p:nvPr/>
        </p:nvSpPr>
        <p:spPr>
          <a:xfrm>
            <a:off x="914400" y="3246120"/>
            <a:ext cx="4663440" cy="914400"/>
          </a:xfrm>
          <a:prstGeom prst="rect">
            <a:avLst/>
          </a:prstGeom>
          <a:noFill/>
          <a:ln/>
        </p:spPr>
        <p:txBody>
          <a:bodyPr wrap="square" lIns="0" tIns="0" rIns="0" bIns="0" rtlCol="0" anchor="t"/>
          <a:lstStyle/>
          <a:p>
            <a:pPr marL="0" indent="0">
              <a:buNone/>
            </a:pPr>
            <a:r>
              <a:rPr lang="en-US" sz="1300" dirty="0">
                <a:solidFill>
                  <a:srgbClr val="5B6478"/>
                </a:solidFill>
                <a:latin typeface="Calibri" pitchFamily="34" charset="0"/>
                <a:ea typeface="Calibri" pitchFamily="34" charset="-122"/>
                <a:cs typeface="Calibri" pitchFamily="34" charset="-120"/>
              </a:rPr>
              <a:t>This means the web app loads an already-trained model in under a second, instead of retraining on every request — critical for a low-memory cloud server.</a:t>
            </a:r>
            <a:endParaRPr lang="en-US" sz="1300" dirty="0"/>
          </a:p>
        </p:txBody>
      </p:sp>
      <p:sp>
        <p:nvSpPr>
          <p:cNvPr id="9" name="Text 7"/>
          <p:cNvSpPr/>
          <p:nvPr/>
        </p:nvSpPr>
        <p:spPr>
          <a:xfrm>
            <a:off x="914400" y="4251960"/>
            <a:ext cx="4663440" cy="320040"/>
          </a:xfrm>
          <a:prstGeom prst="rect">
            <a:avLst/>
          </a:prstGeom>
          <a:noFill/>
          <a:ln/>
        </p:spPr>
        <p:txBody>
          <a:bodyPr wrap="square" lIns="0" tIns="0" rIns="0" bIns="0" rtlCol="0" anchor="ctr"/>
          <a:lstStyle/>
          <a:p>
            <a:pPr marL="0" indent="0">
              <a:buNone/>
            </a:pPr>
            <a:r>
              <a:rPr lang="en-US" sz="1200" b="1" kern="0" spc="100" dirty="0">
                <a:solidFill>
                  <a:srgbClr val="E25C45"/>
                </a:solidFill>
                <a:latin typeface="Calibri" pitchFamily="34" charset="0"/>
                <a:ea typeface="Calibri" pitchFamily="34" charset="-122"/>
                <a:cs typeface="Calibri" pitchFamily="34" charset="-120"/>
              </a:rPr>
              <a:t>DEPLOYMENT STACK</a:t>
            </a:r>
            <a:endParaRPr lang="en-US" sz="1200" dirty="0"/>
          </a:p>
        </p:txBody>
      </p:sp>
      <p:sp>
        <p:nvSpPr>
          <p:cNvPr id="10" name="Text 8"/>
          <p:cNvSpPr/>
          <p:nvPr/>
        </p:nvSpPr>
        <p:spPr>
          <a:xfrm>
            <a:off x="914400" y="4617720"/>
            <a:ext cx="4663440" cy="1280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GitHub — version control &amp; source hosting</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Render — free cloud hosting with auto-deploy on push</a:t>
            </a:r>
            <a:endParaRPr lang="en-US" sz="1300" dirty="0"/>
          </a:p>
          <a:p>
            <a:pPr marL="342900" indent="-3429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Flask — serves the model behind a web interface</a:t>
            </a:r>
            <a:endParaRPr lang="en-US" sz="1300" dirty="0"/>
          </a:p>
        </p:txBody>
      </p:sp>
      <p:sp>
        <p:nvSpPr>
          <p:cNvPr id="11" name="Shape 9"/>
          <p:cNvSpPr/>
          <p:nvPr/>
        </p:nvSpPr>
        <p:spPr>
          <a:xfrm>
            <a:off x="6217920" y="1828800"/>
            <a:ext cx="5394960" cy="4206240"/>
          </a:xfrm>
          <a:prstGeom prst="roundRect">
            <a:avLst>
              <a:gd name="adj" fmla="val 2174"/>
            </a:avLst>
          </a:prstGeom>
          <a:solidFill>
            <a:srgbClr val="1B2A4A"/>
          </a:solidFill>
          <a:ln/>
          <a:effectLst>
            <a:outerShdw blurRad="101600" dist="38100" dir="5400000" algn="bl" rotWithShape="0">
              <a:srgbClr val="000000">
                <a:alpha val="12000"/>
              </a:srgbClr>
            </a:outerShdw>
          </a:effectLst>
        </p:spPr>
      </p:sp>
      <p:sp>
        <p:nvSpPr>
          <p:cNvPr id="12" name="Shape 10"/>
          <p:cNvSpPr/>
          <p:nvPr/>
        </p:nvSpPr>
        <p:spPr>
          <a:xfrm>
            <a:off x="6537960" y="2148840"/>
            <a:ext cx="4754880" cy="1417320"/>
          </a:xfrm>
          <a:prstGeom prst="roundRect">
            <a:avLst>
              <a:gd name="adj" fmla="val 3871"/>
            </a:avLst>
          </a:prstGeom>
          <a:solidFill>
            <a:srgbClr val="0C0F14"/>
          </a:solidFill>
          <a:ln/>
        </p:spPr>
      </p:sp>
      <p:pic>
        <p:nvPicPr>
          <p:cNvPr id="13" name="Image 0" descr="images/slide8_deployment.png"/>
          <p:cNvPicPr>
            <a:picLocks noChangeAspect="1"/>
          </p:cNvPicPr>
          <p:nvPr/>
        </p:nvPicPr>
        <p:blipFill>
          <a:blip r:embed="rId3"/>
          <a:srcRect/>
          <a:stretch/>
        </p:blipFill>
        <p:spPr>
          <a:xfrm>
            <a:off x="6720840" y="2286000"/>
            <a:ext cx="4389120" cy="1143000"/>
          </a:xfrm>
          <a:prstGeom prst="rect">
            <a:avLst/>
          </a:prstGeom>
        </p:spPr>
      </p:pic>
      <p:sp>
        <p:nvSpPr>
          <p:cNvPr id="14" name="Text 11"/>
          <p:cNvSpPr/>
          <p:nvPr/>
        </p:nvSpPr>
        <p:spPr>
          <a:xfrm>
            <a:off x="6537960" y="3657600"/>
            <a:ext cx="4754880" cy="274320"/>
          </a:xfrm>
          <a:prstGeom prst="rect">
            <a:avLst/>
          </a:prstGeom>
          <a:noFill/>
          <a:ln/>
        </p:spPr>
        <p:txBody>
          <a:bodyPr wrap="square" lIns="0" tIns="0" rIns="0" bIns="0" rtlCol="0" anchor="ctr"/>
          <a:lstStyle/>
          <a:p>
            <a:pPr marL="0" indent="0">
              <a:buNone/>
            </a:pPr>
            <a:r>
              <a:rPr lang="en-US" sz="1000" i="1" dirty="0">
                <a:solidFill>
                  <a:srgbClr val="E8EDF7"/>
                </a:solidFill>
                <a:latin typeface="Calibri" pitchFamily="34" charset="0"/>
                <a:ea typeface="Calibri" pitchFamily="34" charset="-122"/>
                <a:cs typeface="Calibri" pitchFamily="34" charset="-120"/>
              </a:rPr>
              <a:t>Live on Render — status: deployed</a:t>
            </a:r>
            <a:endParaRPr lang="en-US" sz="1000" dirty="0"/>
          </a:p>
        </p:txBody>
      </p:sp>
      <p:sp>
        <p:nvSpPr>
          <p:cNvPr id="15" name="Shape 12"/>
          <p:cNvSpPr/>
          <p:nvPr/>
        </p:nvSpPr>
        <p:spPr>
          <a:xfrm>
            <a:off x="6537960" y="4114800"/>
            <a:ext cx="4754880" cy="1691640"/>
          </a:xfrm>
          <a:prstGeom prst="roundRect">
            <a:avLst>
              <a:gd name="adj" fmla="val 4324"/>
            </a:avLst>
          </a:prstGeom>
          <a:solidFill>
            <a:srgbClr val="2C3E63"/>
          </a:solidFill>
          <a:ln/>
        </p:spPr>
      </p:sp>
      <p:sp>
        <p:nvSpPr>
          <p:cNvPr id="16" name="Text 13"/>
          <p:cNvSpPr/>
          <p:nvPr/>
        </p:nvSpPr>
        <p:spPr>
          <a:xfrm>
            <a:off x="6766560" y="4279392"/>
            <a:ext cx="4297680" cy="274320"/>
          </a:xfrm>
          <a:prstGeom prst="rect">
            <a:avLst/>
          </a:prstGeom>
          <a:noFill/>
          <a:ln/>
        </p:spPr>
        <p:txBody>
          <a:bodyPr wrap="square" lIns="0" tIns="0" rIns="0" bIns="0" rtlCol="0" anchor="ctr"/>
          <a:lstStyle/>
          <a:p>
            <a:pPr marL="0" indent="0">
              <a:buNone/>
            </a:pPr>
            <a:r>
              <a:rPr lang="en-US" sz="1000" b="1" kern="0" spc="100" dirty="0">
                <a:solidFill>
                  <a:srgbClr val="E25C45"/>
                </a:solidFill>
                <a:latin typeface="Calibri" pitchFamily="34" charset="0"/>
                <a:ea typeface="Calibri" pitchFamily="34" charset="-122"/>
                <a:cs typeface="Calibri" pitchFamily="34" charset="-120"/>
              </a:rPr>
              <a:t>LIVE LINK</a:t>
            </a:r>
            <a:endParaRPr lang="en-US" sz="1000" dirty="0"/>
          </a:p>
        </p:txBody>
      </p:sp>
      <p:sp>
        <p:nvSpPr>
          <p:cNvPr id="17" name="Text 14">
            <a:hlinkClick r:id="rId4"/>
          </p:cNvPr>
          <p:cNvSpPr/>
          <p:nvPr/>
        </p:nvSpPr>
        <p:spPr>
          <a:xfrm>
            <a:off x="6766560" y="4553712"/>
            <a:ext cx="4297680" cy="365760"/>
          </a:xfrm>
          <a:prstGeom prst="rect">
            <a:avLst/>
          </a:prstGeom>
          <a:noFill/>
          <a:ln/>
        </p:spPr>
        <p:txBody>
          <a:bodyPr wrap="square" lIns="0" tIns="0" rIns="0" bIns="0" rtlCol="0" anchor="ctr"/>
          <a:lstStyle/>
          <a:p>
            <a:pPr marL="0" indent="0">
              <a:buNone/>
            </a:pPr>
            <a:r>
              <a:rPr lang="en-US" sz="1300" u="sng" dirty="0">
                <a:solidFill>
                  <a:srgbClr val="6DA8F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news-detector-mykz.onrender.com</a:t>
            </a:r>
            <a:endParaRPr lang="en-US" sz="1300" dirty="0"/>
          </a:p>
        </p:txBody>
      </p:sp>
      <p:sp>
        <p:nvSpPr>
          <p:cNvPr id="18" name="Text 15"/>
          <p:cNvSpPr/>
          <p:nvPr/>
        </p:nvSpPr>
        <p:spPr>
          <a:xfrm>
            <a:off x="6766560" y="5029200"/>
            <a:ext cx="4297680" cy="274320"/>
          </a:xfrm>
          <a:prstGeom prst="rect">
            <a:avLst/>
          </a:prstGeom>
          <a:noFill/>
          <a:ln/>
        </p:spPr>
        <p:txBody>
          <a:bodyPr wrap="square" lIns="0" tIns="0" rIns="0" bIns="0" rtlCol="0" anchor="ctr"/>
          <a:lstStyle/>
          <a:p>
            <a:pPr marL="0" indent="0">
              <a:buNone/>
            </a:pPr>
            <a:r>
              <a:rPr lang="en-US" sz="1000" b="1" kern="0" spc="100" dirty="0">
                <a:solidFill>
                  <a:srgbClr val="E25C45"/>
                </a:solidFill>
                <a:latin typeface="Calibri" pitchFamily="34" charset="0"/>
                <a:ea typeface="Calibri" pitchFamily="34" charset="-122"/>
                <a:cs typeface="Calibri" pitchFamily="34" charset="-120"/>
              </a:rPr>
              <a:t>GITHUB REPOSITORY</a:t>
            </a:r>
            <a:endParaRPr lang="en-US" sz="1000" dirty="0"/>
          </a:p>
        </p:txBody>
      </p:sp>
      <p:sp>
        <p:nvSpPr>
          <p:cNvPr id="19" name="Text 16">
            <a:hlinkClick r:id="rId5"/>
          </p:cNvPr>
          <p:cNvSpPr/>
          <p:nvPr/>
        </p:nvSpPr>
        <p:spPr>
          <a:xfrm>
            <a:off x="6766560" y="5303520"/>
            <a:ext cx="4297680" cy="365760"/>
          </a:xfrm>
          <a:prstGeom prst="rect">
            <a:avLst/>
          </a:prstGeom>
          <a:noFill/>
          <a:ln/>
        </p:spPr>
        <p:txBody>
          <a:bodyPr wrap="square" lIns="0" tIns="0" rIns="0" bIns="0" rtlCol="0" anchor="ctr"/>
          <a:lstStyle/>
          <a:p>
            <a:pPr marL="0" indent="0">
              <a:buNone/>
            </a:pPr>
            <a:r>
              <a:rPr lang="en-US" sz="1300" u="sng" dirty="0">
                <a:solidFill>
                  <a:srgbClr val="6DA8F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github.com/soumyamishra7/news-detector</a:t>
            </a:r>
            <a:endParaRPr lang="en-US" sz="1300" dirty="0"/>
          </a:p>
        </p:txBody>
      </p:sp>
      <p:sp>
        <p:nvSpPr>
          <p:cNvPr id="20" name="Text 17"/>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21" name="Text 18"/>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LIVE DEMO</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See it in action</a:t>
            </a:r>
            <a:endParaRPr lang="en-US" sz="3000" dirty="0"/>
          </a:p>
        </p:txBody>
      </p:sp>
      <p:sp>
        <p:nvSpPr>
          <p:cNvPr id="5" name="Text 3"/>
          <p:cNvSpPr/>
          <p:nvPr/>
        </p:nvSpPr>
        <p:spPr>
          <a:xfrm>
            <a:off x="548640" y="1920240"/>
            <a:ext cx="5029200" cy="274320"/>
          </a:xfrm>
          <a:prstGeom prst="rect">
            <a:avLst/>
          </a:prstGeom>
          <a:noFill/>
          <a:ln/>
        </p:spPr>
        <p:txBody>
          <a:bodyPr wrap="square" lIns="0" tIns="0" rIns="0" bIns="0" rtlCol="0" anchor="ctr"/>
          <a:lstStyle/>
          <a:p>
            <a:pPr marL="0" indent="0">
              <a:buNone/>
            </a:pPr>
            <a:r>
              <a:rPr lang="en-US" sz="1100" b="1" kern="0" spc="100" dirty="0">
                <a:solidFill>
                  <a:srgbClr val="E25C45"/>
                </a:solidFill>
                <a:latin typeface="Calibri" pitchFamily="34" charset="0"/>
                <a:ea typeface="Calibri" pitchFamily="34" charset="-122"/>
                <a:cs typeface="Calibri" pitchFamily="34" charset="-120"/>
              </a:rPr>
              <a:t>INPUT HEADLINE</a:t>
            </a:r>
            <a:endParaRPr lang="en-US" sz="1100" dirty="0"/>
          </a:p>
        </p:txBody>
      </p:sp>
      <p:sp>
        <p:nvSpPr>
          <p:cNvPr id="6" name="Shape 4"/>
          <p:cNvSpPr/>
          <p:nvPr/>
        </p:nvSpPr>
        <p:spPr>
          <a:xfrm>
            <a:off x="548640" y="2240280"/>
            <a:ext cx="5029200" cy="914400"/>
          </a:xfrm>
          <a:prstGeom prst="roundRect">
            <a:avLst>
              <a:gd name="adj" fmla="val 8000"/>
            </a:avLst>
          </a:prstGeom>
          <a:solidFill>
            <a:srgbClr val="2C3E63"/>
          </a:solidFill>
          <a:ln/>
        </p:spPr>
      </p:sp>
      <p:sp>
        <p:nvSpPr>
          <p:cNvPr id="7" name="Text 5"/>
          <p:cNvSpPr/>
          <p:nvPr/>
        </p:nvSpPr>
        <p:spPr>
          <a:xfrm>
            <a:off x="777240" y="2240280"/>
            <a:ext cx="4572000" cy="914400"/>
          </a:xfrm>
          <a:prstGeom prst="rect">
            <a:avLst/>
          </a:prstGeom>
          <a:noFill/>
          <a:ln/>
        </p:spPr>
        <p:txBody>
          <a:bodyPr wrap="square" lIns="0" tIns="0" rIns="0" bIns="0" rtlCol="0" anchor="ctr"/>
          <a:lstStyle/>
          <a:p>
            <a:pPr marL="0" indent="0">
              <a:buNone/>
            </a:pPr>
            <a:r>
              <a:rPr lang="en-US" sz="1400" i="1" dirty="0">
                <a:solidFill>
                  <a:srgbClr val="E8EDF7"/>
                </a:solidFill>
                <a:latin typeface="Calibri" pitchFamily="34" charset="0"/>
                <a:ea typeface="Calibri" pitchFamily="34" charset="-122"/>
                <a:cs typeface="Calibri" pitchFamily="34" charset="-120"/>
              </a:rPr>
              <a:t>“Hillary Clinton arrested for treason by FBI agents”</a:t>
            </a:r>
            <a:endParaRPr lang="en-US" sz="1400" dirty="0"/>
          </a:p>
        </p:txBody>
      </p:sp>
      <p:sp>
        <p:nvSpPr>
          <p:cNvPr id="8" name="Text 6"/>
          <p:cNvSpPr/>
          <p:nvPr/>
        </p:nvSpPr>
        <p:spPr>
          <a:xfrm>
            <a:off x="548640" y="3383280"/>
            <a:ext cx="5029200" cy="274320"/>
          </a:xfrm>
          <a:prstGeom prst="rect">
            <a:avLst/>
          </a:prstGeom>
          <a:noFill/>
          <a:ln/>
        </p:spPr>
        <p:txBody>
          <a:bodyPr wrap="square" lIns="0" tIns="0" rIns="0" bIns="0" rtlCol="0" anchor="ctr"/>
          <a:lstStyle/>
          <a:p>
            <a:pPr marL="0" indent="0">
              <a:buNone/>
            </a:pPr>
            <a:r>
              <a:rPr lang="en-US" sz="1100" b="1" kern="0" spc="100" dirty="0">
                <a:solidFill>
                  <a:srgbClr val="E25C45"/>
                </a:solidFill>
                <a:latin typeface="Calibri" pitchFamily="34" charset="0"/>
                <a:ea typeface="Calibri" pitchFamily="34" charset="-122"/>
                <a:cs typeface="Calibri" pitchFamily="34" charset="-120"/>
              </a:rPr>
              <a:t>MODEL OUTPUT</a:t>
            </a:r>
            <a:endParaRPr lang="en-US" sz="1100" dirty="0"/>
          </a:p>
        </p:txBody>
      </p:sp>
      <p:sp>
        <p:nvSpPr>
          <p:cNvPr id="9" name="Shape 7"/>
          <p:cNvSpPr/>
          <p:nvPr/>
        </p:nvSpPr>
        <p:spPr>
          <a:xfrm>
            <a:off x="548640" y="3703320"/>
            <a:ext cx="5029200" cy="1463040"/>
          </a:xfrm>
          <a:prstGeom prst="roundRect">
            <a:avLst>
              <a:gd name="adj" fmla="val 5000"/>
            </a:avLst>
          </a:prstGeom>
          <a:solidFill>
            <a:srgbClr val="C0392B"/>
          </a:solidFill>
          <a:ln/>
        </p:spPr>
      </p:sp>
      <p:sp>
        <p:nvSpPr>
          <p:cNvPr id="10" name="Text 8"/>
          <p:cNvSpPr/>
          <p:nvPr/>
        </p:nvSpPr>
        <p:spPr>
          <a:xfrm>
            <a:off x="777240" y="3886200"/>
            <a:ext cx="457200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 FAKE NEWS</a:t>
            </a:r>
            <a:endParaRPr lang="en-US" sz="2600" dirty="0"/>
          </a:p>
        </p:txBody>
      </p:sp>
      <p:sp>
        <p:nvSpPr>
          <p:cNvPr id="11" name="Text 9"/>
          <p:cNvSpPr/>
          <p:nvPr/>
        </p:nvSpPr>
        <p:spPr>
          <a:xfrm>
            <a:off x="777240" y="4480560"/>
            <a:ext cx="4572000" cy="365760"/>
          </a:xfrm>
          <a:prstGeom prst="rect">
            <a:avLst/>
          </a:prstGeom>
          <a:noFill/>
          <a:ln/>
        </p:spPr>
        <p:txBody>
          <a:bodyPr wrap="square" lIns="0" tIns="0" rIns="0" bIns="0" rtlCol="0" anchor="ctr"/>
          <a:lstStyle/>
          <a:p>
            <a:pPr marL="0" indent="0">
              <a:buNone/>
            </a:pPr>
            <a:r>
              <a:rPr lang="en-US" sz="1400" dirty="0">
                <a:solidFill>
                  <a:srgbClr val="E8EDF7"/>
                </a:solidFill>
                <a:latin typeface="Calibri" pitchFamily="34" charset="0"/>
                <a:ea typeface="Calibri" pitchFamily="34" charset="-122"/>
                <a:cs typeface="Calibri" pitchFamily="34" charset="-120"/>
              </a:rPr>
              <a:t>Confidence: 97.7%</a:t>
            </a:r>
            <a:endParaRPr lang="en-US" sz="1400" dirty="0"/>
          </a:p>
        </p:txBody>
      </p:sp>
      <p:sp>
        <p:nvSpPr>
          <p:cNvPr id="12" name="Text 10"/>
          <p:cNvSpPr/>
          <p:nvPr/>
        </p:nvSpPr>
        <p:spPr>
          <a:xfrm>
            <a:off x="777240" y="4800600"/>
            <a:ext cx="4572000" cy="274320"/>
          </a:xfrm>
          <a:prstGeom prst="rect">
            <a:avLst/>
          </a:prstGeom>
          <a:noFill/>
          <a:ln/>
        </p:spPr>
        <p:txBody>
          <a:bodyPr wrap="square" lIns="0" tIns="0" rIns="0" bIns="0" rtlCol="0" anchor="ctr"/>
          <a:lstStyle/>
          <a:p>
            <a:pPr marL="0" indent="0">
              <a:buNone/>
            </a:pPr>
            <a:r>
              <a:rPr lang="en-US" sz="1100" i="1" dirty="0">
                <a:solidFill>
                  <a:srgbClr val="F5C6C0"/>
                </a:solidFill>
                <a:latin typeface="Calibri" pitchFamily="34" charset="0"/>
                <a:ea typeface="Calibri" pitchFamily="34" charset="-122"/>
                <a:cs typeface="Calibri" pitchFamily="34" charset="-120"/>
              </a:rPr>
              <a:t>Top keywords: hillary, fbi, agents, arrested, treason</a:t>
            </a:r>
            <a:endParaRPr lang="en-US" sz="1100" dirty="0"/>
          </a:p>
        </p:txBody>
      </p:sp>
      <p:sp>
        <p:nvSpPr>
          <p:cNvPr id="13" name="Text 11"/>
          <p:cNvSpPr/>
          <p:nvPr/>
        </p:nvSpPr>
        <p:spPr>
          <a:xfrm>
            <a:off x="548640" y="5440680"/>
            <a:ext cx="5029200" cy="1005840"/>
          </a:xfrm>
          <a:prstGeom prst="rect">
            <a:avLst/>
          </a:prstGeom>
          <a:noFill/>
          <a:ln/>
        </p:spPr>
        <p:txBody>
          <a:bodyPr wrap="square" lIns="0" tIns="0" rIns="0" bIns="0" rtlCol="0" anchor="t"/>
          <a:lstStyle/>
          <a:p>
            <a:pPr marL="0" indent="0">
              <a:buNone/>
            </a:pPr>
            <a:r>
              <a:rPr lang="en-US" sz="1200" dirty="0">
                <a:solidFill>
                  <a:srgbClr val="E8EDF7"/>
                </a:solidFill>
                <a:latin typeface="Calibri" pitchFamily="34" charset="0"/>
                <a:ea typeface="Calibri" pitchFamily="34" charset="-122"/>
                <a:cs typeface="Calibri" pitchFamily="34" charset="-120"/>
              </a:rPr>
              <a:t>The Flask app loads the saved model instantly, vectorizes the input with the same TF-IDF transformer, and shows a confidence meter plus the exact keywords that drove the prediction — so the result is explainable, not a black box.</a:t>
            </a:r>
            <a:endParaRPr lang="en-US" sz="1200" dirty="0"/>
          </a:p>
        </p:txBody>
      </p:sp>
      <p:sp>
        <p:nvSpPr>
          <p:cNvPr id="14" name="Shape 12"/>
          <p:cNvSpPr/>
          <p:nvPr/>
        </p:nvSpPr>
        <p:spPr>
          <a:xfrm>
            <a:off x="6263640" y="1828800"/>
            <a:ext cx="5349240" cy="4434840"/>
          </a:xfrm>
          <a:prstGeom prst="roundRect">
            <a:avLst>
              <a:gd name="adj" fmla="val 2062"/>
            </a:avLst>
          </a:prstGeom>
          <a:solidFill>
            <a:srgbClr val="FFFFFF"/>
          </a:solidFill>
          <a:ln/>
          <a:effectLst>
            <a:outerShdw blurRad="101600" dist="38100" dir="5400000" algn="bl" rotWithShape="0">
              <a:srgbClr val="000000">
                <a:alpha val="12000"/>
              </a:srgbClr>
            </a:outerShdw>
          </a:effectLst>
        </p:spPr>
      </p:sp>
      <p:pic>
        <p:nvPicPr>
          <p:cNvPr id="15" name="Image 0" descr="images/slide9_live_demo.png"/>
          <p:cNvPicPr>
            <a:picLocks noChangeAspect="1"/>
          </p:cNvPicPr>
          <p:nvPr/>
        </p:nvPicPr>
        <p:blipFill>
          <a:blip r:embed="rId3"/>
          <a:srcRect/>
          <a:stretch/>
        </p:blipFill>
        <p:spPr>
          <a:xfrm>
            <a:off x="6537960" y="2057400"/>
            <a:ext cx="4800600" cy="3977640"/>
          </a:xfrm>
          <a:prstGeom prst="rect">
            <a:avLst/>
          </a:prstGeom>
        </p:spPr>
      </p:pic>
      <p:sp>
        <p:nvSpPr>
          <p:cNvPr id="16" name="Text 13"/>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7" name="Text 14"/>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48640" y="457200"/>
            <a:ext cx="1828800" cy="365760"/>
          </a:xfrm>
          <a:prstGeom prst="roundRect">
            <a:avLst>
              <a:gd name="adj" fmla="val 20000"/>
            </a:avLst>
          </a:prstGeom>
          <a:solidFill>
            <a:srgbClr val="E25C45"/>
          </a:solidFill>
          <a:ln/>
        </p:spPr>
      </p:sp>
      <p:sp>
        <p:nvSpPr>
          <p:cNvPr id="3" name="Text 1"/>
          <p:cNvSpPr/>
          <p:nvPr/>
        </p:nvSpPr>
        <p:spPr>
          <a:xfrm>
            <a:off x="548640" y="457200"/>
            <a:ext cx="182880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CLOSING</a:t>
            </a:r>
            <a:endParaRPr lang="en-US" sz="1100" dirty="0"/>
          </a:p>
        </p:txBody>
      </p:sp>
      <p:sp>
        <p:nvSpPr>
          <p:cNvPr id="4" name="Text 2"/>
          <p:cNvSpPr/>
          <p:nvPr/>
        </p:nvSpPr>
        <p:spPr>
          <a:xfrm>
            <a:off x="548640" y="960120"/>
            <a:ext cx="100584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Limitations &amp; future scope</a:t>
            </a:r>
            <a:endParaRPr lang="en-US" sz="3000" dirty="0"/>
          </a:p>
        </p:txBody>
      </p:sp>
      <p:sp>
        <p:nvSpPr>
          <p:cNvPr id="5" name="Shape 3"/>
          <p:cNvSpPr/>
          <p:nvPr/>
        </p:nvSpPr>
        <p:spPr>
          <a:xfrm>
            <a:off x="548640" y="1828800"/>
            <a:ext cx="5394960" cy="4206240"/>
          </a:xfrm>
          <a:prstGeom prst="roundRect">
            <a:avLst>
              <a:gd name="adj" fmla="val 2174"/>
            </a:avLst>
          </a:prstGeom>
          <a:solidFill>
            <a:srgbClr val="FFFFFF"/>
          </a:solidFill>
          <a:ln/>
          <a:effectLst>
            <a:outerShdw blurRad="101600" dist="38100" dir="5400000" algn="bl" rotWithShape="0">
              <a:srgbClr val="000000">
                <a:alpha val="12000"/>
              </a:srgbClr>
            </a:outerShdw>
          </a:effectLst>
        </p:spPr>
      </p:sp>
      <p:sp>
        <p:nvSpPr>
          <p:cNvPr id="6" name="Text 4"/>
          <p:cNvSpPr/>
          <p:nvPr/>
        </p:nvSpPr>
        <p:spPr>
          <a:xfrm>
            <a:off x="914400" y="2103120"/>
            <a:ext cx="4663440" cy="320040"/>
          </a:xfrm>
          <a:prstGeom prst="rect">
            <a:avLst/>
          </a:prstGeom>
          <a:noFill/>
          <a:ln/>
        </p:spPr>
        <p:txBody>
          <a:bodyPr wrap="square" lIns="0" tIns="0" rIns="0" bIns="0" rtlCol="0" anchor="ctr"/>
          <a:lstStyle/>
          <a:p>
            <a:pPr marL="0" indent="0">
              <a:buNone/>
            </a:pPr>
            <a:r>
              <a:rPr lang="en-US" sz="1200" b="1" kern="0" spc="100" dirty="0">
                <a:solidFill>
                  <a:srgbClr val="E25C45"/>
                </a:solidFill>
                <a:latin typeface="Calibri" pitchFamily="34" charset="0"/>
                <a:ea typeface="Calibri" pitchFamily="34" charset="-122"/>
                <a:cs typeface="Calibri" pitchFamily="34" charset="-120"/>
              </a:rPr>
              <a:t>CURRENT LIMITATIONS</a:t>
            </a:r>
            <a:endParaRPr lang="en-US" sz="1200" dirty="0"/>
          </a:p>
        </p:txBody>
      </p:sp>
      <p:sp>
        <p:nvSpPr>
          <p:cNvPr id="7" name="Text 5"/>
          <p:cNvSpPr/>
          <p:nvPr/>
        </p:nvSpPr>
        <p:spPr>
          <a:xfrm>
            <a:off x="914400" y="2514600"/>
            <a:ext cx="4663440" cy="32918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Dataset is mostly US political news from 2016–17 — a known dataset bias</a:t>
            </a:r>
            <a:endParaRPr lang="en-US" sz="1300" dirty="0"/>
          </a:p>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Accuracy drops on general topics like sports, health or entertainment</a:t>
            </a:r>
            <a:endParaRPr lang="en-US" sz="1300" dirty="0"/>
          </a:p>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English-only; no multi-language support</a:t>
            </a:r>
            <a:endParaRPr lang="en-US" sz="1300" dirty="0"/>
          </a:p>
          <a:p>
            <a:pPr marL="342900" indent="-342900">
              <a:spcAft>
                <a:spcPts val="1200"/>
              </a:spcAft>
              <a:buSzPct val="100000"/>
              <a:buChar char="•"/>
            </a:pPr>
            <a:r>
              <a:rPr lang="en-US" sz="1300" dirty="0">
                <a:solidFill>
                  <a:srgbClr val="1B2A4A"/>
                </a:solidFill>
                <a:latin typeface="Calibri" pitchFamily="34" charset="0"/>
                <a:ea typeface="Calibri" pitchFamily="34" charset="-122"/>
                <a:cs typeface="Calibri" pitchFamily="34" charset="-120"/>
              </a:rPr>
              <a:t>TF-IDF ignores word order and deeper context</a:t>
            </a:r>
            <a:endParaRPr lang="en-US" sz="1300" dirty="0"/>
          </a:p>
        </p:txBody>
      </p:sp>
      <p:sp>
        <p:nvSpPr>
          <p:cNvPr id="8" name="Shape 6"/>
          <p:cNvSpPr/>
          <p:nvPr/>
        </p:nvSpPr>
        <p:spPr>
          <a:xfrm>
            <a:off x="6217920" y="1828800"/>
            <a:ext cx="5394960" cy="4206240"/>
          </a:xfrm>
          <a:prstGeom prst="roundRect">
            <a:avLst>
              <a:gd name="adj" fmla="val 2174"/>
            </a:avLst>
          </a:prstGeom>
          <a:solidFill>
            <a:srgbClr val="1B2A4A"/>
          </a:solidFill>
          <a:ln/>
          <a:effectLst>
            <a:outerShdw blurRad="101600" dist="38100" dir="5400000" algn="bl" rotWithShape="0">
              <a:srgbClr val="000000">
                <a:alpha val="12000"/>
              </a:srgbClr>
            </a:outerShdw>
          </a:effectLst>
        </p:spPr>
      </p:sp>
      <p:sp>
        <p:nvSpPr>
          <p:cNvPr id="9" name="Text 7"/>
          <p:cNvSpPr/>
          <p:nvPr/>
        </p:nvSpPr>
        <p:spPr>
          <a:xfrm>
            <a:off x="6583680" y="2103120"/>
            <a:ext cx="4663440" cy="320040"/>
          </a:xfrm>
          <a:prstGeom prst="rect">
            <a:avLst/>
          </a:prstGeom>
          <a:noFill/>
          <a:ln/>
        </p:spPr>
        <p:txBody>
          <a:bodyPr wrap="square" lIns="0" tIns="0" rIns="0" bIns="0" rtlCol="0" anchor="ctr"/>
          <a:lstStyle/>
          <a:p>
            <a:pPr marL="0" indent="0">
              <a:buNone/>
            </a:pPr>
            <a:r>
              <a:rPr lang="en-US" sz="1200" b="1" kern="0" spc="100" dirty="0">
                <a:solidFill>
                  <a:srgbClr val="E25C45"/>
                </a:solidFill>
                <a:latin typeface="Calibri" pitchFamily="34" charset="0"/>
                <a:ea typeface="Calibri" pitchFamily="34" charset="-122"/>
                <a:cs typeface="Calibri" pitchFamily="34" charset="-120"/>
              </a:rPr>
              <a:t>FUTURE IMPROVEMENTS</a:t>
            </a:r>
            <a:endParaRPr lang="en-US" sz="1200" dirty="0"/>
          </a:p>
        </p:txBody>
      </p:sp>
      <p:sp>
        <p:nvSpPr>
          <p:cNvPr id="10" name="Text 8"/>
          <p:cNvSpPr/>
          <p:nvPr/>
        </p:nvSpPr>
        <p:spPr>
          <a:xfrm>
            <a:off x="6583680" y="2514600"/>
            <a:ext cx="4663440" cy="32918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Expand dataset to cover diverse, recent, multi-topic news</a:t>
            </a:r>
            <a:endParaRPr lang="en-US" sz="1300" dirty="0"/>
          </a:p>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Use transformer models (BERT) for deeper context understanding</a:t>
            </a:r>
            <a:endParaRPr lang="en-US" sz="1300" dirty="0"/>
          </a:p>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Add explainability — show top keywords behind each prediction</a:t>
            </a:r>
            <a:endParaRPr lang="en-US" sz="1300" dirty="0"/>
          </a:p>
          <a:p>
            <a:pPr marL="342900" indent="-342900">
              <a:spcAft>
                <a:spcPts val="1200"/>
              </a:spcAft>
              <a:buSzPct val="100000"/>
              <a:buChar char="•"/>
            </a:pPr>
            <a:r>
              <a:rPr lang="en-US" sz="1300" dirty="0">
                <a:solidFill>
                  <a:srgbClr val="E8EDF7"/>
                </a:solidFill>
                <a:latin typeface="Calibri" pitchFamily="34" charset="0"/>
                <a:ea typeface="Calibri" pitchFamily="34" charset="-122"/>
                <a:cs typeface="Calibri" pitchFamily="34" charset="-120"/>
              </a:rPr>
              <a:t>Add multi-language support and a prediction history log</a:t>
            </a:r>
            <a:endParaRPr lang="en-US" sz="1300" dirty="0"/>
          </a:p>
        </p:txBody>
      </p:sp>
      <p:sp>
        <p:nvSpPr>
          <p:cNvPr id="11" name="Text 9"/>
          <p:cNvSpPr/>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Fake &amp; Real News Detector</a:t>
            </a:r>
            <a:endParaRPr lang="en-US" sz="900" dirty="0"/>
          </a:p>
        </p:txBody>
      </p:sp>
      <p:sp>
        <p:nvSpPr>
          <p:cNvPr id="12" name="Text 10"/>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1846</Words>
  <Application>Microsoft Office PowerPoint</Application>
  <PresentationFormat>Widescreen</PresentationFormat>
  <Paragraphs>195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&amp; Real News Detector</dc:title>
  <dc:subject>PptxGenJS Presentation</dc:subject>
  <dc:creator>Soumya Ranjan Mishra</dc:creator>
  <cp:lastModifiedBy>Soumya Mishra</cp:lastModifiedBy>
  <cp:revision>3</cp:revision>
  <dcterms:created xsi:type="dcterms:W3CDTF">2026-06-21T06:04:50Z</dcterms:created>
  <dcterms:modified xsi:type="dcterms:W3CDTF">2026-06-21T06:15:45Z</dcterms:modified>
</cp:coreProperties>
</file>